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147480368" r:id="rId2"/>
    <p:sldId id="2147480366" r:id="rId3"/>
    <p:sldId id="2147480382" r:id="rId4"/>
    <p:sldId id="2147480383" r:id="rId5"/>
    <p:sldId id="2147480372" r:id="rId6"/>
    <p:sldId id="2147480380" r:id="rId7"/>
    <p:sldId id="214748036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7" d="100"/>
          <a:sy n="97" d="100"/>
        </p:scale>
        <p:origin x="5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06/04/2026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22E4-FA30-2B59-D474-BBAB9E256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54A3B-3B69-3A33-FAF6-C774D37C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6AD24-7AC9-7116-B3D0-5A10C9A8AB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5E05A93-6EA3-EE2C-1B02-62CCB8FBB3A3}"/>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984859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598BA-505B-8658-A0F0-312B994AD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98115-B372-6657-0B5B-B699AA6AE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4BD0D-162A-024C-9EA9-CD5BC1B54C9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25D305-97D7-90DB-2F6A-67129919156C}"/>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29041587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7</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06/04/2026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nvGrpSpPr>
          <p:cNvPr id="10" name="Groep 9">
            <a:extLst>
              <a:ext uri="{FF2B5EF4-FFF2-40B4-BE49-F238E27FC236}">
                <a16:creationId xmlns:a16="http://schemas.microsoft.com/office/drawing/2014/main" id="{EA00C963-6AD4-06E7-E34B-4FDC370A528D}"/>
              </a:ext>
            </a:extLst>
          </p:cNvPr>
          <p:cNvGrpSpPr/>
          <p:nvPr/>
        </p:nvGrpSpPr>
        <p:grpSpPr>
          <a:xfrm>
            <a:off x="-3160120" y="1363851"/>
            <a:ext cx="2903284" cy="4366456"/>
            <a:chOff x="504690" y="1363851"/>
            <a:chExt cx="2903284" cy="4366456"/>
          </a:xfrm>
        </p:grpSpPr>
        <p:pic>
          <p:nvPicPr>
            <p:cNvPr id="11" name="Afbeelding 10" descr="Afbeelding met schoeisel, kleding, person, persoon&#10;&#10;Door AI gegenereerde inhoud is mogelijk onjuist.">
              <a:extLst>
                <a:ext uri="{FF2B5EF4-FFF2-40B4-BE49-F238E27FC236}">
                  <a16:creationId xmlns:a16="http://schemas.microsoft.com/office/drawing/2014/main" id="{1A673832-247C-378D-6C34-E76494F5D842}"/>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2" name="Afbeelding 11" descr="Afbeelding met schoeisel, kleding, person, persoon&#10;&#10;Door AI gegenereerde inhoud is mogelijk onjuist.">
              <a:extLst>
                <a:ext uri="{FF2B5EF4-FFF2-40B4-BE49-F238E27FC236}">
                  <a16:creationId xmlns:a16="http://schemas.microsoft.com/office/drawing/2014/main" id="{32CB1D28-F9D7-A2CC-0890-50292BA2FDC8}"/>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gr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2200758" y="424491"/>
            <a:ext cx="8028123"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179664"/>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232867"/>
            <a:ext cx="1872927" cy="2583048"/>
            <a:chOff x="2238181" y="2608884"/>
            <a:chExt cx="1872927" cy="2583048"/>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4059994"/>
              <a:ext cx="1872925"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258304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53998"/>
            </a:xfrm>
            <a:prstGeom prst="rect">
              <a:avLst/>
            </a:prstGeom>
            <a:noFill/>
          </p:spPr>
          <p:txBody>
            <a:bodyPr wrap="square" rtlCol="0">
              <a:spAutoFit/>
            </a:bodyPr>
            <a:lstStyle/>
            <a:p>
              <a:r>
                <a:rPr lang="en-GB" sz="1500" b="1" dirty="0">
                  <a:solidFill>
                    <a:schemeClr val="bg1"/>
                  </a:solidFill>
                  <a:latin typeface="DM Sans" pitchFamily="2" charset="0"/>
                </a:rPr>
                <a:t>Individual augmentation</a:t>
              </a:r>
              <a:endParaRPr lang="en-GB" sz="15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1918137"/>
            <a:ext cx="1872927" cy="2897778"/>
            <a:chOff x="4233922" y="2294154"/>
            <a:chExt cx="1872927" cy="2897778"/>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4059994"/>
              <a:ext cx="1862077"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89777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817219" cy="553998"/>
            </a:xfrm>
            <a:prstGeom prst="rect">
              <a:avLst/>
            </a:prstGeom>
            <a:noFill/>
          </p:spPr>
          <p:txBody>
            <a:bodyPr wrap="square" rtlCol="0">
              <a:spAutoFit/>
            </a:bodyPr>
            <a:lstStyle/>
            <a:p>
              <a:r>
                <a:rPr lang="en-GB" sz="1500" b="1" dirty="0">
                  <a:solidFill>
                    <a:schemeClr val="bg1"/>
                  </a:solidFill>
                  <a:latin typeface="DM Sans" pitchFamily="2" charset="0"/>
                </a:rPr>
                <a:t>Task &amp; workflow automation</a:t>
              </a:r>
              <a:endParaRPr lang="en-GB" sz="15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603407"/>
            <a:ext cx="1913110" cy="3212508"/>
            <a:chOff x="6229664" y="1979424"/>
            <a:chExt cx="1913110" cy="3212508"/>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4059994"/>
              <a:ext cx="1872926"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321250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872470" cy="553998"/>
            </a:xfrm>
            <a:prstGeom prst="rect">
              <a:avLst/>
            </a:prstGeom>
            <a:noFill/>
          </p:spPr>
          <p:txBody>
            <a:bodyPr wrap="square" rtlCol="0">
              <a:spAutoFit/>
            </a:bodyPr>
            <a:lstStyle/>
            <a:p>
              <a:r>
                <a:rPr lang="en-GB" sz="1500" b="1" dirty="0">
                  <a:solidFill>
                    <a:schemeClr val="bg1"/>
                  </a:solidFill>
                  <a:latin typeface="DM Sans" pitchFamily="2" charset="0"/>
                </a:rPr>
                <a:t>Functional agentic workflows</a:t>
              </a:r>
              <a:endParaRPr lang="en-GB" sz="15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288677"/>
            <a:ext cx="1919681" cy="3527238"/>
            <a:chOff x="8225406" y="1664694"/>
            <a:chExt cx="1919681" cy="3527238"/>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4059994"/>
              <a:ext cx="1786499" cy="103105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4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3527238"/>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79041" cy="553998"/>
            </a:xfrm>
            <a:prstGeom prst="rect">
              <a:avLst/>
            </a:prstGeom>
            <a:noFill/>
          </p:spPr>
          <p:txBody>
            <a:bodyPr wrap="none" rtlCol="0">
              <a:spAutoFit/>
            </a:bodyPr>
            <a:lstStyle/>
            <a:p>
              <a:r>
                <a:rPr lang="en-GB" sz="1500" b="1" dirty="0">
                  <a:solidFill>
                    <a:schemeClr val="bg1"/>
                  </a:solidFill>
                  <a:latin typeface="DM Sans" pitchFamily="2" charset="0"/>
                </a:rPr>
                <a:t>Cross-functional </a:t>
              </a:r>
              <a:br>
                <a:rPr lang="en-GB" sz="1500" b="1" dirty="0">
                  <a:solidFill>
                    <a:schemeClr val="bg1"/>
                  </a:solidFill>
                  <a:latin typeface="DM Sans" pitchFamily="2" charset="0"/>
                </a:rPr>
              </a:br>
              <a:r>
                <a:rPr lang="en-GB" sz="1500" b="1" dirty="0">
                  <a:solidFill>
                    <a:schemeClr val="bg1"/>
                  </a:solidFill>
                  <a:latin typeface="DM Sans" pitchFamily="2" charset="0"/>
                </a:rPr>
                <a:t>agentic workflows</a:t>
              </a:r>
              <a:endParaRPr lang="en-GB" sz="15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400741"/>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2783348"/>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005867"/>
            <a:ext cx="721795" cy="5757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A248-EF49-F51A-CBDA-CDB536E050A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6CED7A95-861C-C15B-BDC7-8EFDB6F02F4F}"/>
              </a:ext>
            </a:extLst>
          </p:cNvPr>
          <p:cNvSpPr/>
          <p:nvPr/>
        </p:nvSpPr>
        <p:spPr>
          <a:xfrm>
            <a:off x="2214880" y="512643"/>
            <a:ext cx="7762240" cy="48377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F651015-06D4-F8F3-4AC0-6C159D0D7FDC}"/>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854FBC05-8076-835B-A51A-382B2C7273FA}"/>
              </a:ext>
            </a:extLst>
          </p:cNvPr>
          <p:cNvSpPr/>
          <p:nvPr/>
        </p:nvSpPr>
        <p:spPr>
          <a:xfrm>
            <a:off x="2265680" y="1273144"/>
            <a:ext cx="7658112" cy="723275"/>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20" name="TextBox 19">
            <a:extLst>
              <a:ext uri="{FF2B5EF4-FFF2-40B4-BE49-F238E27FC236}">
                <a16:creationId xmlns:a16="http://schemas.microsoft.com/office/drawing/2014/main" id="{79702F44-A03C-80FC-8FB0-0826BA42DE86}"/>
              </a:ext>
            </a:extLst>
          </p:cNvPr>
          <p:cNvSpPr txBox="1"/>
          <p:nvPr/>
        </p:nvSpPr>
        <p:spPr>
          <a:xfrm>
            <a:off x="2418950" y="1363371"/>
            <a:ext cx="3874310" cy="507831"/>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VISION</a:t>
            </a:r>
          </a:p>
          <a:p>
            <a:pPr>
              <a:buSzPct val="100000"/>
            </a:pPr>
            <a:r>
              <a:rPr lang="en-GB" sz="1400" noProof="0" dirty="0">
                <a:solidFill>
                  <a:schemeClr val="tx1">
                    <a:lumMod val="85000"/>
                    <a:lumOff val="15000"/>
                  </a:schemeClr>
                </a:solidFill>
                <a:latin typeface="+mj-lt"/>
              </a:rPr>
              <a:t>Vision</a:t>
            </a:r>
            <a:r>
              <a:rPr lang="en-GB" sz="1400" b="1" noProof="0" dirty="0">
                <a:solidFill>
                  <a:schemeClr val="tx1">
                    <a:lumMod val="85000"/>
                    <a:lumOff val="15000"/>
                  </a:schemeClr>
                </a:solidFill>
                <a:latin typeface="+mj-lt"/>
              </a:rPr>
              <a:t>, </a:t>
            </a:r>
            <a:r>
              <a:rPr lang="en-GB" sz="14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41F7B64D-5435-407E-622F-30D44BB5CD32}"/>
              </a:ext>
            </a:extLst>
          </p:cNvPr>
          <p:cNvSpPr/>
          <p:nvPr/>
        </p:nvSpPr>
        <p:spPr>
          <a:xfrm>
            <a:off x="2271959"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4" name="Rectangle 153">
            <a:extLst>
              <a:ext uri="{FF2B5EF4-FFF2-40B4-BE49-F238E27FC236}">
                <a16:creationId xmlns:a16="http://schemas.microsoft.com/office/drawing/2014/main" id="{D5BBACB4-7591-438A-25EA-79E642E138D4}"/>
              </a:ext>
            </a:extLst>
          </p:cNvPr>
          <p:cNvSpPr/>
          <p:nvPr/>
        </p:nvSpPr>
        <p:spPr>
          <a:xfrm>
            <a:off x="4858848"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6" name="Rectangle 155">
            <a:extLst>
              <a:ext uri="{FF2B5EF4-FFF2-40B4-BE49-F238E27FC236}">
                <a16:creationId xmlns:a16="http://schemas.microsoft.com/office/drawing/2014/main" id="{41A130F9-0930-C628-981A-7758A9ACE534}"/>
              </a:ext>
            </a:extLst>
          </p:cNvPr>
          <p:cNvSpPr/>
          <p:nvPr/>
        </p:nvSpPr>
        <p:spPr>
          <a:xfrm>
            <a:off x="7445738" y="3119400"/>
            <a:ext cx="2480582" cy="1168533"/>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52" name="TextBox 151">
            <a:extLst>
              <a:ext uri="{FF2B5EF4-FFF2-40B4-BE49-F238E27FC236}">
                <a16:creationId xmlns:a16="http://schemas.microsoft.com/office/drawing/2014/main" id="{61BC1662-D73D-BAB8-E82C-9675A5C2652B}"/>
              </a:ext>
            </a:extLst>
          </p:cNvPr>
          <p:cNvSpPr txBox="1"/>
          <p:nvPr/>
        </p:nvSpPr>
        <p:spPr>
          <a:xfrm>
            <a:off x="2418949" y="3206227"/>
            <a:ext cx="2306191" cy="938719"/>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PEOPLE</a:t>
            </a:r>
          </a:p>
          <a:p>
            <a:pPr>
              <a:buSzPct val="100000"/>
            </a:pPr>
            <a:r>
              <a:rPr lang="en-GB" sz="1400" noProof="0" dirty="0">
                <a:solidFill>
                  <a:schemeClr val="tx1">
                    <a:lumMod val="85000"/>
                    <a:lumOff val="15000"/>
                  </a:schemeClr>
                </a:solidFill>
                <a:latin typeface="+mj-lt"/>
              </a:rPr>
              <a:t>Roles, target skills &amp; gaps, org sizing, talent journey, training, team incentives</a:t>
            </a:r>
          </a:p>
        </p:txBody>
      </p:sp>
      <p:sp>
        <p:nvSpPr>
          <p:cNvPr id="155" name="TextBox 154">
            <a:extLst>
              <a:ext uri="{FF2B5EF4-FFF2-40B4-BE49-F238E27FC236}">
                <a16:creationId xmlns:a16="http://schemas.microsoft.com/office/drawing/2014/main" id="{D6773BBC-2B68-F3FD-662D-3FDFA5E700A0}"/>
              </a:ext>
            </a:extLst>
          </p:cNvPr>
          <p:cNvSpPr txBox="1"/>
          <p:nvPr/>
        </p:nvSpPr>
        <p:spPr>
          <a:xfrm>
            <a:off x="5010186" y="3206227"/>
            <a:ext cx="2044410" cy="938719"/>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PROCESS</a:t>
            </a:r>
          </a:p>
          <a:p>
            <a:pPr>
              <a:buSzPct val="100000"/>
            </a:pPr>
            <a:r>
              <a:rPr lang="en-GB" sz="1400" dirty="0">
                <a:solidFill>
                  <a:schemeClr val="tx1">
                    <a:lumMod val="85000"/>
                    <a:lumOff val="15000"/>
                  </a:schemeClr>
                </a:solidFill>
                <a:latin typeface="+mj-lt"/>
              </a:rPr>
              <a:t>Org. design, cross-functional teams, product way-of-working</a:t>
            </a:r>
          </a:p>
        </p:txBody>
      </p:sp>
      <p:sp>
        <p:nvSpPr>
          <p:cNvPr id="157" name="TextBox 156">
            <a:extLst>
              <a:ext uri="{FF2B5EF4-FFF2-40B4-BE49-F238E27FC236}">
                <a16:creationId xmlns:a16="http://schemas.microsoft.com/office/drawing/2014/main" id="{8666AC02-3F8E-E754-C3F1-B208CBEF0099}"/>
              </a:ext>
            </a:extLst>
          </p:cNvPr>
          <p:cNvSpPr txBox="1"/>
          <p:nvPr/>
        </p:nvSpPr>
        <p:spPr>
          <a:xfrm>
            <a:off x="7590340" y="3206227"/>
            <a:ext cx="2050934" cy="938719"/>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ENABLEMENT</a:t>
            </a:r>
          </a:p>
          <a:p>
            <a:pPr>
              <a:buSzPct val="100000"/>
            </a:pPr>
            <a:r>
              <a:rPr lang="en-GB" sz="14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DFE2ED97-2E3F-FA70-0C4E-672C48D375F5}"/>
              </a:ext>
            </a:extLst>
          </p:cNvPr>
          <p:cNvSpPr/>
          <p:nvPr/>
        </p:nvSpPr>
        <p:spPr>
          <a:xfrm>
            <a:off x="2271959" y="436379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65" name="Rectangle 164">
            <a:extLst>
              <a:ext uri="{FF2B5EF4-FFF2-40B4-BE49-F238E27FC236}">
                <a16:creationId xmlns:a16="http://schemas.microsoft.com/office/drawing/2014/main" id="{385E0A92-67D8-D588-5217-B92EF10469E0}"/>
              </a:ext>
            </a:extLst>
          </p:cNvPr>
          <p:cNvSpPr/>
          <p:nvPr/>
        </p:nvSpPr>
        <p:spPr>
          <a:xfrm>
            <a:off x="6151970" y="436379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63" name="TextBox 162">
            <a:extLst>
              <a:ext uri="{FF2B5EF4-FFF2-40B4-BE49-F238E27FC236}">
                <a16:creationId xmlns:a16="http://schemas.microsoft.com/office/drawing/2014/main" id="{80DC8BB1-3935-E17A-25BB-74A2F1D33D3A}"/>
              </a:ext>
            </a:extLst>
          </p:cNvPr>
          <p:cNvSpPr txBox="1"/>
          <p:nvPr/>
        </p:nvSpPr>
        <p:spPr>
          <a:xfrm>
            <a:off x="2418952" y="4450616"/>
            <a:ext cx="2792111" cy="723275"/>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DATA</a:t>
            </a:r>
          </a:p>
          <a:p>
            <a:pPr>
              <a:buSzPct val="100000"/>
            </a:pPr>
            <a:r>
              <a:rPr lang="en-GB" sz="1400" dirty="0">
                <a:solidFill>
                  <a:schemeClr val="tx1">
                    <a:lumMod val="85000"/>
                    <a:lumOff val="15000"/>
                  </a:schemeClr>
                </a:solidFill>
                <a:latin typeface="+mj-lt"/>
              </a:rPr>
              <a:t>Reusable data products, analytics, architecture, monetization</a:t>
            </a:r>
          </a:p>
        </p:txBody>
      </p:sp>
      <p:sp>
        <p:nvSpPr>
          <p:cNvPr id="166" name="TextBox 165">
            <a:extLst>
              <a:ext uri="{FF2B5EF4-FFF2-40B4-BE49-F238E27FC236}">
                <a16:creationId xmlns:a16="http://schemas.microsoft.com/office/drawing/2014/main" id="{10166978-2E96-E3A3-95B8-30EF5CAF9525}"/>
              </a:ext>
            </a:extLst>
          </p:cNvPr>
          <p:cNvSpPr txBox="1"/>
          <p:nvPr/>
        </p:nvSpPr>
        <p:spPr>
          <a:xfrm>
            <a:off x="6293260" y="4450616"/>
            <a:ext cx="2548336" cy="723275"/>
          </a:xfrm>
          <a:prstGeom prst="rect">
            <a:avLst/>
          </a:prstGeom>
          <a:noFill/>
        </p:spPr>
        <p:txBody>
          <a:bodyPr wrap="square" lIns="0" tIns="0" rIns="0" bIns="0" rtlCol="0">
            <a:spAutoFit/>
          </a:bodyPr>
          <a:lstStyle/>
          <a:p>
            <a:pPr>
              <a:spcAft>
                <a:spcPts val="600"/>
              </a:spcAft>
              <a:buSzPct val="100000"/>
            </a:pPr>
            <a:r>
              <a:rPr lang="en-GB" sz="1400" b="1" dirty="0">
                <a:solidFill>
                  <a:schemeClr val="tx1">
                    <a:lumMod val="85000"/>
                    <a:lumOff val="15000"/>
                  </a:schemeClr>
                </a:solidFill>
                <a:latin typeface="DM Sans" pitchFamily="2" charset="0"/>
              </a:rPr>
              <a:t>TECHNOLOGY</a:t>
            </a:r>
          </a:p>
          <a:p>
            <a:pPr>
              <a:buSzPct val="100000"/>
            </a:pPr>
            <a:r>
              <a:rPr lang="en-GB" sz="1400" dirty="0">
                <a:solidFill>
                  <a:schemeClr val="tx1">
                    <a:lumMod val="85000"/>
                    <a:lumOff val="15000"/>
                  </a:schemeClr>
                </a:solidFill>
                <a:latin typeface="+mj-lt"/>
              </a:rPr>
              <a:t>Target architecture, platforms &amp; solutions, integration </a:t>
            </a:r>
          </a:p>
        </p:txBody>
      </p:sp>
      <p:sp>
        <p:nvSpPr>
          <p:cNvPr id="140" name="Rectangle 139">
            <a:extLst>
              <a:ext uri="{FF2B5EF4-FFF2-40B4-BE49-F238E27FC236}">
                <a16:creationId xmlns:a16="http://schemas.microsoft.com/office/drawing/2014/main" id="{408780A7-24D1-5FA9-1D03-00F17CEDD27F}"/>
              </a:ext>
            </a:extLst>
          </p:cNvPr>
          <p:cNvSpPr/>
          <p:nvPr/>
        </p:nvSpPr>
        <p:spPr>
          <a:xfrm>
            <a:off x="2271958" y="2069637"/>
            <a:ext cx="7651834" cy="973769"/>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noProof="0" dirty="0"/>
          </a:p>
        </p:txBody>
      </p:sp>
      <p:sp>
        <p:nvSpPr>
          <p:cNvPr id="141" name="TextBox 140">
            <a:extLst>
              <a:ext uri="{FF2B5EF4-FFF2-40B4-BE49-F238E27FC236}">
                <a16:creationId xmlns:a16="http://schemas.microsoft.com/office/drawing/2014/main" id="{0F7C620F-BBEE-7637-3EFD-6F8FCA9B7A17}"/>
              </a:ext>
            </a:extLst>
          </p:cNvPr>
          <p:cNvSpPr txBox="1"/>
          <p:nvPr/>
        </p:nvSpPr>
        <p:spPr>
          <a:xfrm>
            <a:off x="2418950" y="2156464"/>
            <a:ext cx="3874310" cy="723275"/>
          </a:xfrm>
          <a:prstGeom prst="rect">
            <a:avLst/>
          </a:prstGeom>
          <a:noFill/>
        </p:spPr>
        <p:txBody>
          <a:bodyPr wrap="square" lIns="0" tIns="0" rIns="0" bIns="0" rtlCol="0">
            <a:spAutoFit/>
          </a:bodyPr>
          <a:lstStyle/>
          <a:p>
            <a:pPr>
              <a:spcAft>
                <a:spcPts val="600"/>
              </a:spcAft>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business unit</a:t>
            </a:r>
          </a:p>
          <a:p>
            <a:pPr>
              <a:buSzPct val="100000"/>
            </a:pPr>
            <a:r>
              <a:rPr lang="en-GB" sz="14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E0F4E9CB-0A0E-4690-0FA6-9ED54FEC3B60}"/>
              </a:ext>
            </a:extLst>
          </p:cNvPr>
          <p:cNvSpPr/>
          <p:nvPr/>
        </p:nvSpPr>
        <p:spPr>
          <a:xfrm>
            <a:off x="6857075"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BF71C01D-C3EC-7385-38F5-111CD7EAAE7D}"/>
              </a:ext>
            </a:extLst>
          </p:cNvPr>
          <p:cNvSpPr/>
          <p:nvPr/>
        </p:nvSpPr>
        <p:spPr>
          <a:xfrm>
            <a:off x="7543657"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7505B10F-04F0-C6AA-EB31-F410AA01EEBA}"/>
              </a:ext>
            </a:extLst>
          </p:cNvPr>
          <p:cNvSpPr/>
          <p:nvPr/>
        </p:nvSpPr>
        <p:spPr>
          <a:xfrm>
            <a:off x="8230239"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4109848C-6F06-818E-FE0D-EF820C4C18F5}"/>
              </a:ext>
            </a:extLst>
          </p:cNvPr>
          <p:cNvSpPr/>
          <p:nvPr/>
        </p:nvSpPr>
        <p:spPr>
          <a:xfrm>
            <a:off x="8916822" y="223373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14DF526F-073F-3342-E25A-644CF951ED34}"/>
              </a:ext>
            </a:extLst>
          </p:cNvPr>
          <p:cNvPicPr>
            <a:picLocks noChangeAspect="1"/>
          </p:cNvPicPr>
          <p:nvPr/>
        </p:nvPicPr>
        <p:blipFill>
          <a:blip r:embed="rId3"/>
          <a:stretch>
            <a:fillRect/>
          </a:stretch>
        </p:blipFill>
        <p:spPr>
          <a:xfrm>
            <a:off x="12333890" y="551145"/>
            <a:ext cx="8051107" cy="4602677"/>
          </a:xfrm>
          <a:prstGeom prst="rect">
            <a:avLst/>
          </a:prstGeom>
        </p:spPr>
      </p:pic>
    </p:spTree>
    <p:extLst>
      <p:ext uri="{BB962C8B-B14F-4D97-AF65-F5344CB8AC3E}">
        <p14:creationId xmlns:p14="http://schemas.microsoft.com/office/powerpoint/2010/main" val="39287628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C3AFC-45EF-AF93-6DE5-4A040E4E802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2C041F90-7266-FE29-E4F5-4CAFEC1EF67C}"/>
              </a:ext>
            </a:extLst>
          </p:cNvPr>
          <p:cNvSpPr/>
          <p:nvPr/>
        </p:nvSpPr>
        <p:spPr>
          <a:xfrm>
            <a:off x="2245360" y="409251"/>
            <a:ext cx="7711440"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5" name="Afbeelding 24">
            <a:extLst>
              <a:ext uri="{FF2B5EF4-FFF2-40B4-BE49-F238E27FC236}">
                <a16:creationId xmlns:a16="http://schemas.microsoft.com/office/drawing/2014/main" id="{969CE313-B039-6AA9-8D92-F234DC7101E6}"/>
              </a:ext>
            </a:extLst>
          </p:cNvPr>
          <p:cNvPicPr>
            <a:picLocks noChangeAspect="1"/>
          </p:cNvPicPr>
          <p:nvPr/>
        </p:nvPicPr>
        <p:blipFill>
          <a:blip r:embed="rId3">
            <a:extLst>
              <a:ext uri="{28A0092B-C50C-407E-A947-70E740481C1C}">
                <a14:useLocalDpi xmlns:a14="http://schemas.microsoft.com/office/drawing/2010/main" val="0"/>
              </a:ext>
            </a:extLst>
          </a:blip>
          <a:srcRect l="3864" t="16890" r="3741" b="5198"/>
          <a:stretch>
            <a:fillRect/>
          </a:stretch>
        </p:blipFill>
        <p:spPr>
          <a:xfrm>
            <a:off x="2240966" y="1235528"/>
            <a:ext cx="7719128" cy="3633034"/>
          </a:xfrm>
          <a:prstGeom prst="rect">
            <a:avLst/>
          </a:prstGeom>
        </p:spPr>
      </p:pic>
      <p:pic>
        <p:nvPicPr>
          <p:cNvPr id="5" name="Afbeelding 4">
            <a:extLst>
              <a:ext uri="{FF2B5EF4-FFF2-40B4-BE49-F238E27FC236}">
                <a16:creationId xmlns:a16="http://schemas.microsoft.com/office/drawing/2014/main" id="{2909A23B-6954-0376-D46E-3DD2D31464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08029" y="0"/>
            <a:ext cx="8051107" cy="4493641"/>
          </a:xfrm>
          <a:prstGeom prst="rect">
            <a:avLst/>
          </a:prstGeom>
        </p:spPr>
      </p:pic>
      <p:sp>
        <p:nvSpPr>
          <p:cNvPr id="3" name="Title 2">
            <a:extLst>
              <a:ext uri="{FF2B5EF4-FFF2-40B4-BE49-F238E27FC236}">
                <a16:creationId xmlns:a16="http://schemas.microsoft.com/office/drawing/2014/main" id="{3946A784-2DA4-4C3F-32DA-E6744BE96D35}"/>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Product Canvas</a:t>
            </a:r>
          </a:p>
        </p:txBody>
      </p:sp>
    </p:spTree>
    <p:extLst>
      <p:ext uri="{BB962C8B-B14F-4D97-AF65-F5344CB8AC3E}">
        <p14:creationId xmlns:p14="http://schemas.microsoft.com/office/powerpoint/2010/main" val="3135272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85570DD6-ECE8-813D-71E2-A6B55B81A1B5}"/>
              </a:ext>
            </a:extLst>
          </p:cNvPr>
          <p:cNvSpPr/>
          <p:nvPr/>
        </p:nvSpPr>
        <p:spPr>
          <a:xfrm>
            <a:off x="2103120" y="409251"/>
            <a:ext cx="8006080" cy="38477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grpSp>
        <p:nvGrpSpPr>
          <p:cNvPr id="8" name="Groep 7">
            <a:extLst>
              <a:ext uri="{FF2B5EF4-FFF2-40B4-BE49-F238E27FC236}">
                <a16:creationId xmlns:a16="http://schemas.microsoft.com/office/drawing/2014/main" id="{8E27219E-BAE6-EC08-ACC2-6522DFDED5CF}"/>
              </a:ext>
            </a:extLst>
          </p:cNvPr>
          <p:cNvGrpSpPr/>
          <p:nvPr/>
        </p:nvGrpSpPr>
        <p:grpSpPr>
          <a:xfrm>
            <a:off x="2134835" y="1596283"/>
            <a:ext cx="7922331" cy="2315318"/>
            <a:chOff x="2115749" y="1596283"/>
            <a:chExt cx="7922331" cy="2315318"/>
          </a:xfrm>
        </p:grpSpPr>
        <p:grpSp>
          <p:nvGrpSpPr>
            <p:cNvPr id="6" name="Groep 5">
              <a:extLst>
                <a:ext uri="{FF2B5EF4-FFF2-40B4-BE49-F238E27FC236}">
                  <a16:creationId xmlns:a16="http://schemas.microsoft.com/office/drawing/2014/main" id="{3920A64C-4B42-386C-70E7-EE599C6CBC57}"/>
                </a:ext>
              </a:extLst>
            </p:cNvPr>
            <p:cNvGrpSpPr/>
            <p:nvPr/>
          </p:nvGrpSpPr>
          <p:grpSpPr>
            <a:xfrm>
              <a:off x="2115749" y="1596283"/>
              <a:ext cx="2580639" cy="2315318"/>
              <a:chOff x="2115749" y="1596283"/>
              <a:chExt cx="2618811" cy="2315318"/>
            </a:xfrm>
          </p:grpSpPr>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Where does this initiative create measurable business value? </a:t>
                </a:r>
                <a:br>
                  <a:rPr lang="en-GB" sz="1400" noProof="0" dirty="0">
                    <a:solidFill>
                      <a:schemeClr val="tx1">
                        <a:lumMod val="85000"/>
                        <a:lumOff val="15000"/>
                      </a:schemeClr>
                    </a:solidFill>
                    <a:latin typeface="+mj-lt"/>
                  </a:rPr>
                </a:br>
                <a:r>
                  <a:rPr lang="en-GB" sz="1400" noProof="0" dirty="0">
                    <a:solidFill>
                      <a:schemeClr val="tx1">
                        <a:lumMod val="85000"/>
                        <a:lumOff val="15000"/>
                      </a:schemeClr>
                    </a:solidFill>
                    <a:latin typeface="+mj-lt"/>
                  </a:rPr>
                  <a:t>(</a:t>
                </a:r>
                <a:r>
                  <a:rPr lang="en-GB" sz="1400" i="1" dirty="0">
                    <a:solidFill>
                      <a:schemeClr val="tx1">
                        <a:lumMod val="85000"/>
                        <a:lumOff val="15000"/>
                      </a:schemeClr>
                    </a:solidFill>
                    <a:latin typeface="+mj-lt"/>
                  </a:rPr>
                  <a:t>R</a:t>
                </a:r>
                <a:r>
                  <a:rPr lang="en-GB" sz="1400" i="1" noProof="0" dirty="0" err="1">
                    <a:solidFill>
                      <a:schemeClr val="tx1">
                        <a:lumMod val="85000"/>
                        <a:lumOff val="15000"/>
                      </a:schemeClr>
                    </a:solidFill>
                    <a:latin typeface="+mj-lt"/>
                  </a:rPr>
                  <a:t>evenue</a:t>
                </a:r>
                <a:r>
                  <a:rPr lang="en-GB" sz="1400" i="1" noProof="0" dirty="0">
                    <a:solidFill>
                      <a:schemeClr val="tx1">
                        <a:lumMod val="85000"/>
                        <a:lumOff val="15000"/>
                      </a:schemeClr>
                    </a:solidFill>
                    <a:latin typeface="+mj-lt"/>
                  </a:rPr>
                  <a:t>, efficiency,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84236"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VALUE</a:t>
                </a:r>
              </a:p>
            </p:txBody>
          </p:sp>
        </p:grpSp>
        <p:grpSp>
          <p:nvGrpSpPr>
            <p:cNvPr id="7" name="Groep 6">
              <a:extLst>
                <a:ext uri="{FF2B5EF4-FFF2-40B4-BE49-F238E27FC236}">
                  <a16:creationId xmlns:a16="http://schemas.microsoft.com/office/drawing/2014/main" id="{6211F9D1-B851-E331-EF70-DBE7D55329BD}"/>
                </a:ext>
              </a:extLst>
            </p:cNvPr>
            <p:cNvGrpSpPr/>
            <p:nvPr/>
          </p:nvGrpSpPr>
          <p:grpSpPr>
            <a:xfrm>
              <a:off x="7457441" y="1596283"/>
              <a:ext cx="2580639" cy="2315318"/>
              <a:chOff x="7457441" y="1596283"/>
              <a:chExt cx="2618811" cy="2315318"/>
            </a:xfrm>
          </p:grpSpPr>
          <p:sp>
            <p:nvSpPr>
              <p:cNvPr id="14" name="Rechthoek: afgeronde hoeken 13">
                <a:extLst>
                  <a:ext uri="{FF2B5EF4-FFF2-40B4-BE49-F238E27FC236}">
                    <a16:creationId xmlns:a16="http://schemas.microsoft.com/office/drawing/2014/main" id="{A1A90501-E13B-0DB0-9669-99A86F87A9DE}"/>
                  </a:ext>
                </a:extLst>
              </p:cNvPr>
              <p:cNvSpPr/>
              <p:nvPr/>
            </p:nvSpPr>
            <p:spPr>
              <a:xfrm>
                <a:off x="7457441"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How can the organisation </a:t>
                </a:r>
                <a:br>
                  <a:rPr lang="en-GB" sz="1400" noProof="0" dirty="0">
                    <a:solidFill>
                      <a:schemeClr val="tx1">
                        <a:lumMod val="85000"/>
                        <a:lumOff val="15000"/>
                      </a:schemeClr>
                    </a:solidFill>
                    <a:latin typeface="+mj-lt"/>
                  </a:rPr>
                </a:br>
                <a:r>
                  <a:rPr lang="en-GB" sz="1400" noProof="0" dirty="0">
                    <a:solidFill>
                      <a:schemeClr val="tx1">
                        <a:lumMod val="85000"/>
                        <a:lumOff val="15000"/>
                      </a:schemeClr>
                    </a:solidFill>
                    <a:latin typeface="+mj-lt"/>
                  </a:rPr>
                  <a:t>govern it responsibly? </a:t>
                </a:r>
                <a:br>
                  <a:rPr lang="en-GB" sz="1400"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7725928"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TRUST</a:t>
                </a:r>
              </a:p>
            </p:txBody>
          </p:sp>
        </p:grpSp>
        <p:grpSp>
          <p:nvGrpSpPr>
            <p:cNvPr id="5" name="Groep 4">
              <a:extLst>
                <a:ext uri="{FF2B5EF4-FFF2-40B4-BE49-F238E27FC236}">
                  <a16:creationId xmlns:a16="http://schemas.microsoft.com/office/drawing/2014/main" id="{22798BCB-43E5-8C6B-D7E0-BA2BE8E94962}"/>
                </a:ext>
              </a:extLst>
            </p:cNvPr>
            <p:cNvGrpSpPr/>
            <p:nvPr/>
          </p:nvGrpSpPr>
          <p:grpSpPr>
            <a:xfrm>
              <a:off x="4786595" y="1596283"/>
              <a:ext cx="2580639" cy="2315318"/>
              <a:chOff x="4838631" y="1596283"/>
              <a:chExt cx="2618811" cy="2315318"/>
            </a:xfrm>
          </p:grpSpPr>
          <p:sp>
            <p:nvSpPr>
              <p:cNvPr id="18" name="Rechthoek: afgeronde hoeken 17">
                <a:extLst>
                  <a:ext uri="{FF2B5EF4-FFF2-40B4-BE49-F238E27FC236}">
                    <a16:creationId xmlns:a16="http://schemas.microsoft.com/office/drawing/2014/main" id="{EB153662-B3A8-884C-9C7A-69E6E91AEA4C}"/>
                  </a:ext>
                </a:extLst>
              </p:cNvPr>
              <p:cNvSpPr/>
              <p:nvPr/>
            </p:nvSpPr>
            <p:spPr>
              <a:xfrm>
                <a:off x="4838631" y="2121491"/>
                <a:ext cx="2618811" cy="1790110"/>
              </a:xfrm>
              <a:prstGeom prst="roundRect">
                <a:avLst/>
              </a:prstGeom>
              <a:solidFill>
                <a:srgbClr val="FFFFFF"/>
              </a:solidFill>
              <a:ln w="12700">
                <a:solidFill>
                  <a:schemeClr val="tx1">
                    <a:lumMod val="85000"/>
                    <a:lumOff val="15000"/>
                  </a:schemeClr>
                </a:solidFill>
              </a:ln>
            </p:spPr>
            <p:txBody>
              <a:bodyPr wrap="square" lIns="36000" tIns="90000" rIns="36000" anchor="ctr" anchorCtr="1">
                <a:noAutofit/>
              </a:bodyPr>
              <a:lstStyle/>
              <a:p>
                <a:pPr algn="ctr">
                  <a:buNone/>
                </a:pPr>
                <a:r>
                  <a:rPr lang="en-GB" sz="1400" noProof="0" dirty="0">
                    <a:solidFill>
                      <a:schemeClr val="tx1">
                        <a:lumMod val="85000"/>
                        <a:lumOff val="15000"/>
                      </a:schemeClr>
                    </a:solidFill>
                    <a:latin typeface="+mj-lt"/>
                  </a:rPr>
                  <a:t>What is required in the organisation to deliver this? </a:t>
                </a:r>
                <a:br>
                  <a:rPr lang="en-GB" sz="1400"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(People, process, </a:t>
                </a:r>
                <a:br>
                  <a:rPr lang="en-GB" sz="1400" i="1" noProof="0" dirty="0">
                    <a:solidFill>
                      <a:schemeClr val="tx1">
                        <a:lumMod val="85000"/>
                        <a:lumOff val="15000"/>
                      </a:schemeClr>
                    </a:solidFill>
                    <a:latin typeface="+mj-lt"/>
                  </a:rPr>
                </a:br>
                <a:r>
                  <a:rPr lang="en-GB" sz="1400" i="1" noProof="0" dirty="0">
                    <a:solidFill>
                      <a:schemeClr val="tx1">
                        <a:lumMod val="85000"/>
                        <a:lumOff val="15000"/>
                      </a:schemeClr>
                    </a:solidFill>
                    <a:latin typeface="+mj-lt"/>
                  </a:rPr>
                  <a:t>enablement, data, tech)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107118" y="1596283"/>
                <a:ext cx="2081837" cy="626416"/>
              </a:xfrm>
              <a:prstGeom prst="roundRect">
                <a:avLst/>
              </a:prstGeom>
              <a:solidFill>
                <a:schemeClr val="tx1">
                  <a:lumMod val="85000"/>
                  <a:lumOff val="15000"/>
                </a:schemeClr>
              </a:solidFill>
              <a:ln>
                <a:noFill/>
              </a:ln>
            </p:spPr>
            <p:txBody>
              <a:bodyPr lIns="36000" rIns="36000" anchor="ctr" anchorCtr="1">
                <a:normAutofit/>
              </a:bodyPr>
              <a:lstStyle/>
              <a:p>
                <a:pPr algn="ctr">
                  <a:buNone/>
                </a:pPr>
                <a:r>
                  <a:rPr lang="en-GB" sz="1400" b="1" noProof="0" dirty="0">
                    <a:solidFill>
                      <a:srgbClr val="FFFFFF"/>
                    </a:solidFill>
                    <a:latin typeface="DM Sans" pitchFamily="2" charset="0"/>
                  </a:rPr>
                  <a:t>CAPABILITIES</a:t>
                </a:r>
              </a:p>
            </p:txBody>
          </p:sp>
        </p:grpSp>
      </p:gr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E656BF4B-30F9-BF3D-DBA2-480FF3018B94}"/>
              </a:ext>
            </a:extLst>
          </p:cNvPr>
          <p:cNvSpPr/>
          <p:nvPr/>
        </p:nvSpPr>
        <p:spPr>
          <a:xfrm>
            <a:off x="2103120" y="409251"/>
            <a:ext cx="8006080" cy="4769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157545" y="1678877"/>
            <a:ext cx="105669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3972221" y="1678877"/>
            <a:ext cx="1062234"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033766" y="3535091"/>
            <a:ext cx="2118930"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124485" y="1870519"/>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034455" y="1365669"/>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SINGLE </a:t>
            </a:r>
            <a:br>
              <a:rPr lang="en-GB" sz="1400" b="1" noProof="0" dirty="0">
                <a:solidFill>
                  <a:srgbClr val="FFFFFF"/>
                </a:solidFill>
                <a:latin typeface="DM Sans" pitchFamily="2" charset="0"/>
              </a:rPr>
            </a:br>
            <a:r>
              <a:rPr lang="en-GB" sz="1400" b="1" noProof="0" dirty="0">
                <a:solidFill>
                  <a:srgbClr val="FFFFFF"/>
                </a:solidFill>
                <a:latin typeface="DM Sans" pitchFamily="2" charset="0"/>
              </a:rPr>
              <a:t>RULEBOOK</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7242726" y="3726733"/>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7152696"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GOVERNANCE DIVIDEND</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000706" y="3726733"/>
            <a:ext cx="1943030" cy="1032378"/>
          </a:xfrm>
          <a:prstGeom prst="roundRect">
            <a:avLst/>
          </a:prstGeom>
          <a:solidFill>
            <a:srgbClr val="FFFFFF"/>
          </a:solidFill>
          <a:ln w="19050">
            <a:solidFill>
              <a:schemeClr val="tx1">
                <a:lumMod val="85000"/>
                <a:lumOff val="15000"/>
              </a:schemeClr>
            </a:solidFill>
          </a:ln>
        </p:spPr>
        <p:txBody>
          <a:bodyPr wrap="square" tIns="144000" anchor="ctr" anchorCtr="1">
            <a:normAutofit/>
          </a:bodyPr>
          <a:lstStyle/>
          <a:p>
            <a:pPr algn="ctr">
              <a:buNone/>
            </a:pPr>
            <a:r>
              <a:rPr lang="en-GB" sz="14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2910676"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 </a:t>
            </a:r>
            <a:br>
              <a:rPr lang="en-GB" sz="1400" b="1" noProof="0" dirty="0">
                <a:solidFill>
                  <a:srgbClr val="FFFFFF"/>
                </a:solidFill>
                <a:latin typeface="DM Sans" pitchFamily="2" charset="0"/>
              </a:rPr>
            </a:br>
            <a:r>
              <a:rPr lang="en-GB" sz="1400" b="1" noProof="0" dirty="0">
                <a:solidFill>
                  <a:srgbClr val="FFFFFF"/>
                </a:solidFill>
                <a:latin typeface="DM Sans" pitchFamily="2" charset="0"/>
              </a:rPr>
              <a:t>PREMIUM</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2910675" y="1987119"/>
            <a:ext cx="1676333" cy="433837"/>
          </a:xfrm>
          <a:prstGeom prst="rect">
            <a:avLst/>
          </a:prstGeom>
          <a:noFill/>
        </p:spPr>
        <p:txBody>
          <a:bodyPr wrap="square" rtlCol="0">
            <a:spAutoFit/>
          </a:bodyPr>
          <a:lstStyle/>
          <a:p>
            <a:pPr algn="r">
              <a:lnSpc>
                <a:spcPts val="1300"/>
              </a:lnSpc>
              <a:buNone/>
            </a:pPr>
            <a:r>
              <a:rPr lang="en-GB" sz="14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604991" y="1987119"/>
            <a:ext cx="1675644" cy="433837"/>
          </a:xfrm>
          <a:prstGeom prst="rect">
            <a:avLst/>
          </a:prstGeom>
          <a:noFill/>
        </p:spPr>
        <p:txBody>
          <a:bodyPr wrap="square" rtlCol="0">
            <a:spAutoFit/>
          </a:bodyPr>
          <a:lstStyle/>
          <a:p>
            <a:pPr>
              <a:lnSpc>
                <a:spcPts val="1300"/>
              </a:lnSpc>
              <a:buNone/>
            </a:pPr>
            <a:r>
              <a:rPr lang="en-GB" sz="14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4108" y="3634534"/>
            <a:ext cx="1303785" cy="433837"/>
          </a:xfrm>
          <a:prstGeom prst="rect">
            <a:avLst/>
          </a:prstGeom>
          <a:noFill/>
        </p:spPr>
        <p:txBody>
          <a:bodyPr wrap="square" rtlCol="0">
            <a:spAutoFit/>
          </a:bodyPr>
          <a:lstStyle/>
          <a:p>
            <a:pPr algn="ctr">
              <a:lnSpc>
                <a:spcPts val="1300"/>
              </a:lnSpc>
              <a:buNone/>
            </a:pPr>
            <a:r>
              <a:rPr lang="en-GB" sz="14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621</TotalTime>
  <Words>466</Words>
  <Application>Microsoft Office PowerPoint</Application>
  <PresentationFormat>Breedbeeld</PresentationFormat>
  <Paragraphs>77</Paragraphs>
  <Slides>7</Slides>
  <Notes>7</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7</vt:i4>
      </vt:variant>
    </vt:vector>
  </HeadingPairs>
  <TitlesOfParts>
    <vt:vector size="16"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AI Product Canvas</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27</cp:revision>
  <dcterms:created xsi:type="dcterms:W3CDTF">2026-03-01T16:43:58Z</dcterms:created>
  <dcterms:modified xsi:type="dcterms:W3CDTF">2026-04-06T19:25:10Z</dcterms:modified>
</cp:coreProperties>
</file>