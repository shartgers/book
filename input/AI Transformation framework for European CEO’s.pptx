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147480366" r:id="rId2"/>
    <p:sldId id="2147480367" r:id="rId3"/>
    <p:sldId id="214748036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5B6B"/>
    <a:srgbClr val="627281"/>
    <a:srgbClr val="546473"/>
    <a:srgbClr val="576879"/>
    <a:srgbClr val="94A6B4"/>
    <a:srgbClr val="3F4F5E"/>
    <a:srgbClr val="1E2933"/>
    <a:srgbClr val="526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823B6-5D4F-41CA-8B02-551D95EA8BB9}" v="1" dt="2026-03-01T16:56:22.7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248" y="2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 Hartgers" userId="3ce558ff999c0d3f" providerId="LiveId" clId="{4B5D78F8-DE07-46C6-852D-C1A30D9204AF}"/>
    <pc:docChg chg="undo custSel modSld">
      <pc:chgData name="Stephan Hartgers" userId="3ce558ff999c0d3f" providerId="LiveId" clId="{4B5D78F8-DE07-46C6-852D-C1A30D9204AF}" dt="2026-03-01T16:56:22.740" v="2" actId="164"/>
      <pc:docMkLst>
        <pc:docMk/>
      </pc:docMkLst>
      <pc:sldChg chg="addSp modSp mod">
        <pc:chgData name="Stephan Hartgers" userId="3ce558ff999c0d3f" providerId="LiveId" clId="{4B5D78F8-DE07-46C6-852D-C1A30D9204AF}" dt="2026-03-01T16:56:22.740" v="2" actId="164"/>
        <pc:sldMkLst>
          <pc:docMk/>
          <pc:sldMk cId="3155234622" sldId="2147480366"/>
        </pc:sldMkLst>
        <pc:spChg chg="mod">
          <ac:chgData name="Stephan Hartgers" userId="3ce558ff999c0d3f" providerId="LiveId" clId="{4B5D78F8-DE07-46C6-852D-C1A30D9204AF}" dt="2026-03-01T16:56:18.575" v="1" actId="1076"/>
          <ac:spMkLst>
            <pc:docMk/>
            <pc:sldMk cId="3155234622" sldId="2147480366"/>
            <ac:spMk id="3" creationId="{B3A34B42-FB4F-0FAB-9E0C-B9D4240D7263}"/>
          </ac:spMkLst>
        </pc:spChg>
        <pc:spChg chg="mod">
          <ac:chgData name="Stephan Hartgers" userId="3ce558ff999c0d3f" providerId="LiveId" clId="{4B5D78F8-DE07-46C6-852D-C1A30D9204AF}" dt="2026-03-01T16:56:22.740" v="2" actId="164"/>
          <ac:spMkLst>
            <pc:docMk/>
            <pc:sldMk cId="3155234622" sldId="2147480366"/>
            <ac:spMk id="13" creationId="{20F41343-C46A-FBF1-1A24-4EA457D0B60F}"/>
          </ac:spMkLst>
        </pc:spChg>
        <pc:spChg chg="mod">
          <ac:chgData name="Stephan Hartgers" userId="3ce558ff999c0d3f" providerId="LiveId" clId="{4B5D78F8-DE07-46C6-852D-C1A30D9204AF}" dt="2026-03-01T16:56:22.740" v="2" actId="164"/>
          <ac:spMkLst>
            <pc:docMk/>
            <pc:sldMk cId="3155234622" sldId="2147480366"/>
            <ac:spMk id="14" creationId="{36B940B1-BB64-5315-41EF-90659B2E2413}"/>
          </ac:spMkLst>
        </pc:spChg>
        <pc:spChg chg="mod">
          <ac:chgData name="Stephan Hartgers" userId="3ce558ff999c0d3f" providerId="LiveId" clId="{4B5D78F8-DE07-46C6-852D-C1A30D9204AF}" dt="2026-03-01T16:56:22.740" v="2" actId="164"/>
          <ac:spMkLst>
            <pc:docMk/>
            <pc:sldMk cId="3155234622" sldId="2147480366"/>
            <ac:spMk id="17" creationId="{4DC9BA65-02F5-9778-D996-0E43F5050B58}"/>
          </ac:spMkLst>
        </pc:spChg>
        <pc:spChg chg="mod">
          <ac:chgData name="Stephan Hartgers" userId="3ce558ff999c0d3f" providerId="LiveId" clId="{4B5D78F8-DE07-46C6-852D-C1A30D9204AF}" dt="2026-03-01T16:56:22.740" v="2" actId="164"/>
          <ac:spMkLst>
            <pc:docMk/>
            <pc:sldMk cId="3155234622" sldId="2147480366"/>
            <ac:spMk id="20" creationId="{1C285D34-3103-3FC5-CA90-096D3DDE0E6B}"/>
          </ac:spMkLst>
        </pc:spChg>
        <pc:spChg chg="mod">
          <ac:chgData name="Stephan Hartgers" userId="3ce558ff999c0d3f" providerId="LiveId" clId="{4B5D78F8-DE07-46C6-852D-C1A30D9204AF}" dt="2026-03-01T16:56:22.740" v="2" actId="164"/>
          <ac:spMkLst>
            <pc:docMk/>
            <pc:sldMk cId="3155234622" sldId="2147480366"/>
            <ac:spMk id="43" creationId="{77F83771-69DC-DE58-F493-65CEDB545E5C}"/>
          </ac:spMkLst>
        </pc:spChg>
        <pc:spChg chg="mod">
          <ac:chgData name="Stephan Hartgers" userId="3ce558ff999c0d3f" providerId="LiveId" clId="{4B5D78F8-DE07-46C6-852D-C1A30D9204AF}" dt="2026-03-01T16:56:22.740" v="2" actId="164"/>
          <ac:spMkLst>
            <pc:docMk/>
            <pc:sldMk cId="3155234622" sldId="2147480366"/>
            <ac:spMk id="140" creationId="{803139DD-F140-2E13-C535-DBA32BD2249E}"/>
          </ac:spMkLst>
        </pc:spChg>
        <pc:spChg chg="mod">
          <ac:chgData name="Stephan Hartgers" userId="3ce558ff999c0d3f" providerId="LiveId" clId="{4B5D78F8-DE07-46C6-852D-C1A30D9204AF}" dt="2026-03-01T16:56:22.740" v="2" actId="164"/>
          <ac:spMkLst>
            <pc:docMk/>
            <pc:sldMk cId="3155234622" sldId="2147480366"/>
            <ac:spMk id="141" creationId="{AE8C815B-7E18-CE74-1D37-2454B20069A0}"/>
          </ac:spMkLst>
        </pc:spChg>
        <pc:spChg chg="mod">
          <ac:chgData name="Stephan Hartgers" userId="3ce558ff999c0d3f" providerId="LiveId" clId="{4B5D78F8-DE07-46C6-852D-C1A30D9204AF}" dt="2026-03-01T16:56:22.740" v="2" actId="164"/>
          <ac:spMkLst>
            <pc:docMk/>
            <pc:sldMk cId="3155234622" sldId="2147480366"/>
            <ac:spMk id="151" creationId="{DA84A920-84E4-D38E-DFB7-5C496D13FC0A}"/>
          </ac:spMkLst>
        </pc:spChg>
        <pc:spChg chg="mod">
          <ac:chgData name="Stephan Hartgers" userId="3ce558ff999c0d3f" providerId="LiveId" clId="{4B5D78F8-DE07-46C6-852D-C1A30D9204AF}" dt="2026-03-01T16:56:22.740" v="2" actId="164"/>
          <ac:spMkLst>
            <pc:docMk/>
            <pc:sldMk cId="3155234622" sldId="2147480366"/>
            <ac:spMk id="154" creationId="{55D2C2E2-60C1-A4D8-155A-29C4AE9102DC}"/>
          </ac:spMkLst>
        </pc:spChg>
        <pc:spChg chg="mod">
          <ac:chgData name="Stephan Hartgers" userId="3ce558ff999c0d3f" providerId="LiveId" clId="{4B5D78F8-DE07-46C6-852D-C1A30D9204AF}" dt="2026-03-01T16:56:22.740" v="2" actId="164"/>
          <ac:spMkLst>
            <pc:docMk/>
            <pc:sldMk cId="3155234622" sldId="2147480366"/>
            <ac:spMk id="165" creationId="{C8B0295D-55E0-BE71-18DC-D49D90CE705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B7A3DB-122E-499C-AAFB-3D4665CBCADB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CE29-0DCC-4890-A91F-1AD6D7B8A6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986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AFD66-2597-4960-86E3-D00E2B43A69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529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3DBEA-249C-C242-148C-48F701862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22EEB-C303-C2A5-8D9D-1A69098FC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54394-2E02-F59C-3637-C4FD90296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901B4-4B31-A81F-86D7-37D4F9F19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AFD66-2597-4960-86E3-D00E2B43A69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862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5450A-C4D7-1430-C644-50F3F198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92276-1454-3270-B3A5-C743FFF3D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543F5-304A-1D65-0A71-730E5FE78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B26A6-51FB-0ED0-1F61-4CA82ADDF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AFD66-2597-4960-86E3-D00E2B43A69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813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781F1-1DDD-70AD-2B31-A4AC53AA0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03A3327-3598-1461-CCA0-9A6AFE661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9E65A24-ED99-7452-1BC7-5ED0DB6C0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0143-BC45-40DA-908E-84B30ACFDA3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45B1F13-BCB2-5D4E-7588-56C49077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79200AD-AF2E-3A67-0026-2378AE830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8A5CA-36E4-466B-BFAD-60F492F3970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493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7CF8EB-816D-FDCD-F302-CED864944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F55245D-87C1-0161-98CC-46D6DC0C0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31DF2A7-EF22-A176-7903-A7448C65A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0143-BC45-40DA-908E-84B30ACFDA3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915440C-9C34-49CB-D98D-D473F32CF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BFA2633-60BD-1801-CFC0-CFC2CC68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8A5CA-36E4-466B-BFAD-60F492F3970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2178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E05FBD-AD2E-B70D-FE51-7922896C0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CD1439-5304-A4F8-23F3-91E38D560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B27BB56-F787-1478-740A-7BBB062D2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0143-BC45-40DA-908E-84B30ACFDA3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8B0C650-7547-6CDA-7895-F4F458E74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359DBC1-9648-272F-CB3F-D93F9D083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8A5CA-36E4-466B-BFAD-60F492F3970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0770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C6A1A1-4D3E-87EE-7F58-EAD6B4798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67C087B-84C2-9ABE-E482-A8EDEF2F5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61ABC8E-4A6E-C445-D2D7-3588AA598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ACFD2E0-9353-50D7-ED50-E5871993B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0143-BC45-40DA-908E-84B30ACFDA3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7FAF7E9-FBC5-EF33-49E8-C33B237D8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0D954A0-C003-C81D-AE37-AF022FDB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8A5CA-36E4-466B-BFAD-60F492F3970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6034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402F75-9E20-C327-C428-FF526D60D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9E8F906-F175-DA30-BE26-D30FF96AC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B89F477-E643-D4BA-902C-A6C9194AE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10B4855-17DF-ECD3-B4FB-71A4560BD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000467E-7E56-1BF2-F008-2472F4500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D2C2E93C-5772-5655-03E3-876C8F573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0143-BC45-40DA-908E-84B30ACFDA3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9E5B210-34E7-E1A7-BB90-61D7BD79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D4F957F-D5D1-E270-1C9E-FB4A79F2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8A5CA-36E4-466B-BFAD-60F492F3970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292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D782E3-08CA-6EFC-E6DE-1E5A7753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8E3B6EB-38CF-2337-5095-3A507295E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0143-BC45-40DA-908E-84B30ACFDA3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CCB8DC7-ECA8-EF63-687E-3CCC3D3DB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D391956-2C59-F5A1-9109-EC7FA86B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8A5CA-36E4-466B-BFAD-60F492F3970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87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23783D8-9356-6E3D-92DC-D2DAD6D73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0143-BC45-40DA-908E-84B30ACFDA3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0300307-1254-85AA-E3C9-37878B8A6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EB34F05-EFB9-0EF7-5B09-939996C5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8A5CA-36E4-466B-BFAD-60F492F3970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5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D2E3CE-E21E-D4AF-3B63-A81B85BB1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B5AD590-843E-B144-87D8-E9EDB651F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50C058B-43E3-F53B-B710-F0150D78F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2BA5311-723E-73D7-0247-8747DE5D8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0143-BC45-40DA-908E-84B30ACFDA3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0AE9178-2EFC-D734-FEBE-9BCABFDEE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8D84D54-C5BC-5E3C-CB4A-2E0F2BE69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8A5CA-36E4-466B-BFAD-60F492F3970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514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E73908-81A6-22E0-F48A-21E268FE1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AE12854A-AC61-42FE-A2B5-FB7854AD7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89B8F9D-4332-3447-9191-52DA47CCF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8B9ABAF-DCE3-A37C-8284-234D6D85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0143-BC45-40DA-908E-84B30ACFDA3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735020A-55A8-5AA8-5131-7DFC5798F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40BEFC4-88F6-F504-6E7A-DA0BC689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8A5CA-36E4-466B-BFAD-60F492F3970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74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D1785A-A1F8-6C31-D0A2-07D2D5336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5F97C3D-A7D0-924B-F97B-6A78D7972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60680C7-7A5B-E3A6-9976-3F1EA0177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0143-BC45-40DA-908E-84B30ACFDA3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FD89848-8358-4627-5842-011091765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0E739CA-5091-127C-903A-F98E9A82E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8A5CA-36E4-466B-BFAD-60F492F3970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024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7D27C91D-4CA3-1BB6-E010-E508C5846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299A0FB-D898-3B2E-AE2F-48116BB1A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B4F1A33-0324-8304-A98E-2980D38A8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30143-BC45-40DA-908E-84B30ACFDA3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71CB564-1D21-9149-9229-5B7952787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C085909-CB5B-4379-965F-CC884D7E1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8A5CA-36E4-466B-BFAD-60F492F3970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642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93B77DD-25FA-4E00-A89E-457DC2A93CE4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0538" y="629113"/>
            <a:ext cx="10885673" cy="36009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spcBef>
                <a:spcPts val="900"/>
              </a:spcBef>
              <a:defRPr sz="2300" b="1">
                <a:solidFill>
                  <a:schemeClr val="tx1"/>
                </a:solidFill>
                <a:latin typeface="DM Sans Medium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DF3227-37E5-4EC6-921E-BA24D2499B7C}"/>
              </a:ext>
            </a:extLst>
          </p:cNvPr>
          <p:cNvSpPr txBox="1">
            <a:spLocks/>
          </p:cNvSpPr>
          <p:nvPr userDrawn="1"/>
        </p:nvSpPr>
        <p:spPr>
          <a:xfrm>
            <a:off x="11631612" y="6504793"/>
            <a:ext cx="465139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39601925-951F-4EA8-91E5-A517312BFAAA}" type="slidenum">
              <a:rPr lang="en-US" sz="1000" smtClean="0">
                <a:solidFill>
                  <a:schemeClr val="tx1">
                    <a:lumMod val="50000"/>
                    <a:lumOff val="50000"/>
                  </a:schemeClr>
                </a:solidFill>
                <a:latin typeface="DM Sans" pitchFamily="2" charset="0"/>
              </a:rPr>
              <a:pPr lvl="0"/>
              <a:t>‹nr.›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DM Sans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A11930-A700-37D0-B620-DB9AEEA1B2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0538" y="360564"/>
            <a:ext cx="5605462" cy="16863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900"/>
              </a:spcBef>
              <a:buNone/>
              <a:defRPr sz="1200" b="1">
                <a:solidFill>
                  <a:schemeClr val="tx1"/>
                </a:solidFill>
                <a:latin typeface="DM Sans" pitchFamily="2" charset="0"/>
              </a:defRPr>
            </a:lvl1pPr>
          </a:lstStyle>
          <a:p>
            <a:pPr lvl="0"/>
            <a:r>
              <a:rPr lang="en-US"/>
              <a:t>SLIDE CAPTION</a:t>
            </a:r>
            <a:endParaRPr lang="LID4096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805338A-4C90-581A-7AC2-B2531739DA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9424" y="2060575"/>
            <a:ext cx="11593513" cy="1237005"/>
          </a:xfrm>
        </p:spPr>
        <p:txBody>
          <a:bodyPr>
            <a:spAutoFit/>
          </a:bodyPr>
          <a:lstStyle>
            <a:lvl1pPr>
              <a:defRPr sz="1400">
                <a:latin typeface="DM Sans" pitchFamily="2" charset="0"/>
              </a:defRPr>
            </a:lvl1pPr>
            <a:lvl2pPr>
              <a:defRPr sz="1400">
                <a:latin typeface="DM Sans" pitchFamily="2" charset="0"/>
              </a:defRPr>
            </a:lvl2pPr>
            <a:lvl3pPr>
              <a:defRPr sz="1400">
                <a:latin typeface="DM Sans" pitchFamily="2" charset="0"/>
              </a:defRPr>
            </a:lvl3pPr>
            <a:lvl4pPr>
              <a:defRPr sz="1400">
                <a:latin typeface="DM Sans" pitchFamily="2" charset="0"/>
              </a:defRPr>
            </a:lvl4pPr>
            <a:lvl5pPr>
              <a:defRPr sz="1400">
                <a:latin typeface="DM Sans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54583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9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298">
          <p15:clr>
            <a:srgbClr val="FBAE40"/>
          </p15:clr>
        </p15:guide>
        <p15:guide id="4" pos="309">
          <p15:clr>
            <a:srgbClr val="FBAE40"/>
          </p15:clr>
        </p15:guide>
        <p15:guide id="5" pos="760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57C13288-64D5-C2BB-27A3-C8D49F88D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31B50BE-CABC-7CFE-BCB2-7BC067593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8BE55C4-D64D-B57A-BD11-0C43F9056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30143-BC45-40DA-908E-84B30ACFDA34}" type="datetimeFigureOut">
              <a:rPr lang="en-GB" smtClean="0"/>
              <a:t>01/03/2026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5F86E71-4578-4DD3-C38E-F50B116D2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67409F3-4F53-F682-48E1-62439966E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8A5CA-36E4-466B-BFAD-60F492F3970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23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A34B42-FB4F-0FAB-9E0C-B9D4240D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 Transformation framework for European CEO’s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35E0FE-8031-5765-5A7D-1E7C3DB16C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Agentic </a:t>
            </a:r>
            <a:r>
              <a:rPr lang="en-US" dirty="0" err="1"/>
              <a:t>Organisation</a:t>
            </a:r>
            <a:endParaRPr lang="en-US" dirty="0"/>
          </a:p>
        </p:txBody>
      </p:sp>
      <p:grpSp>
        <p:nvGrpSpPr>
          <p:cNvPr id="16" name="Groep 15">
            <a:extLst>
              <a:ext uri="{FF2B5EF4-FFF2-40B4-BE49-F238E27FC236}">
                <a16:creationId xmlns:a16="http://schemas.microsoft.com/office/drawing/2014/main" id="{7C86CE1E-3BCE-3EB1-F051-207618DE23E4}"/>
              </a:ext>
            </a:extLst>
          </p:cNvPr>
          <p:cNvGrpSpPr/>
          <p:nvPr/>
        </p:nvGrpSpPr>
        <p:grpSpPr>
          <a:xfrm>
            <a:off x="1869888" y="1788635"/>
            <a:ext cx="7039850" cy="3658850"/>
            <a:chOff x="1869888" y="1137706"/>
            <a:chExt cx="7039850" cy="3658850"/>
          </a:xfrm>
        </p:grpSpPr>
        <p:grpSp>
          <p:nvGrpSpPr>
            <p:cNvPr id="2" name="Groep 1">
              <a:extLst>
                <a:ext uri="{FF2B5EF4-FFF2-40B4-BE49-F238E27FC236}">
                  <a16:creationId xmlns:a16="http://schemas.microsoft.com/office/drawing/2014/main" id="{1D45816F-C7A2-85B7-42BA-A22F5841366E}"/>
                </a:ext>
              </a:extLst>
            </p:cNvPr>
            <p:cNvGrpSpPr/>
            <p:nvPr/>
          </p:nvGrpSpPr>
          <p:grpSpPr>
            <a:xfrm>
              <a:off x="1869888" y="1137706"/>
              <a:ext cx="7037527" cy="569848"/>
              <a:chOff x="1869888" y="1137706"/>
              <a:chExt cx="7037527" cy="56984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DC9BA65-02F5-9778-D996-0E43F5050B58}"/>
                  </a:ext>
                </a:extLst>
              </p:cNvPr>
              <p:cNvSpPr/>
              <p:nvPr/>
            </p:nvSpPr>
            <p:spPr>
              <a:xfrm>
                <a:off x="1869888" y="1137706"/>
                <a:ext cx="7037527" cy="56984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C285D34-3103-3FC5-CA90-096D3DDE0E6B}"/>
                  </a:ext>
                </a:extLst>
              </p:cNvPr>
              <p:cNvSpPr txBox="1"/>
              <p:nvPr/>
            </p:nvSpPr>
            <p:spPr>
              <a:xfrm>
                <a:off x="2010738" y="1207612"/>
                <a:ext cx="356035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buSzPct val="100000"/>
                </a:pPr>
                <a:r>
                  <a:rPr lang="en-US" sz="1200" b="1" dirty="0">
                    <a:latin typeface="DM Sans" pitchFamily="2" charset="0"/>
                  </a:rPr>
                  <a:t>Vision</a:t>
                </a:r>
              </a:p>
              <a:p>
                <a:pPr>
                  <a:buSzPct val="100000"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</a:rPr>
                  <a:t>Vision</a:t>
                </a:r>
                <a:r>
                  <a:rPr 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</a:rPr>
                  <a:t>, </a:t>
                </a: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</a:rPr>
                  <a:t>strategy, values, objectives</a:t>
                </a:r>
              </a:p>
            </p:txBody>
          </p:sp>
        </p:grpSp>
        <p:grpSp>
          <p:nvGrpSpPr>
            <p:cNvPr id="9" name="Groep 8">
              <a:extLst>
                <a:ext uri="{FF2B5EF4-FFF2-40B4-BE49-F238E27FC236}">
                  <a16:creationId xmlns:a16="http://schemas.microsoft.com/office/drawing/2014/main" id="{ED531BDA-D9E1-B250-6381-7DFF6243F863}"/>
                </a:ext>
              </a:extLst>
            </p:cNvPr>
            <p:cNvGrpSpPr/>
            <p:nvPr/>
          </p:nvGrpSpPr>
          <p:grpSpPr>
            <a:xfrm>
              <a:off x="1875658" y="3887682"/>
              <a:ext cx="7034080" cy="908874"/>
              <a:chOff x="1875658" y="2895090"/>
              <a:chExt cx="7034080" cy="908874"/>
            </a:xfrm>
          </p:grpSpPr>
          <p:grpSp>
            <p:nvGrpSpPr>
              <p:cNvPr id="6" name="Groep 5">
                <a:extLst>
                  <a:ext uri="{FF2B5EF4-FFF2-40B4-BE49-F238E27FC236}">
                    <a16:creationId xmlns:a16="http://schemas.microsoft.com/office/drawing/2014/main" id="{2A1038EE-D6B3-1076-10A0-7EDB04F89669}"/>
                  </a:ext>
                </a:extLst>
              </p:cNvPr>
              <p:cNvGrpSpPr/>
              <p:nvPr/>
            </p:nvGrpSpPr>
            <p:grpSpPr>
              <a:xfrm>
                <a:off x="1875658" y="2895090"/>
                <a:ext cx="7034080" cy="908874"/>
                <a:chOff x="1875658" y="2895090"/>
                <a:chExt cx="7034080" cy="908874"/>
              </a:xfrm>
            </p:grpSpPr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DA84A920-84E4-D38E-DFB7-5C496D13FC0A}"/>
                    </a:ext>
                  </a:extLst>
                </p:cNvPr>
                <p:cNvSpPr/>
                <p:nvPr/>
              </p:nvSpPr>
              <p:spPr>
                <a:xfrm>
                  <a:off x="1875658" y="2895090"/>
                  <a:ext cx="2279565" cy="90887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55D2C2E2-60C1-A4D8-155A-29C4AE9102DC}"/>
                    </a:ext>
                  </a:extLst>
                </p:cNvPr>
                <p:cNvSpPr/>
                <p:nvPr/>
              </p:nvSpPr>
              <p:spPr>
                <a:xfrm>
                  <a:off x="4252915" y="2895090"/>
                  <a:ext cx="2279565" cy="90887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DD197C6D-A1CA-B22B-ECAC-F110C43F9350}"/>
                    </a:ext>
                  </a:extLst>
                </p:cNvPr>
                <p:cNvSpPr/>
                <p:nvPr/>
              </p:nvSpPr>
              <p:spPr>
                <a:xfrm>
                  <a:off x="6630173" y="2895090"/>
                  <a:ext cx="2279565" cy="90887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</p:grp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30FBF885-B703-4E76-E0CE-D11230D74F72}"/>
                  </a:ext>
                </a:extLst>
              </p:cNvPr>
              <p:cNvSpPr txBox="1"/>
              <p:nvPr/>
            </p:nvSpPr>
            <p:spPr>
              <a:xfrm>
                <a:off x="2010737" y="2961596"/>
                <a:ext cx="22391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buSzPct val="100000"/>
                </a:pPr>
                <a:r>
                  <a:rPr lang="en-US" sz="1200" b="1" dirty="0">
                    <a:latin typeface="DM Sans" pitchFamily="2" charset="0"/>
                  </a:rPr>
                  <a:t>Data</a:t>
                </a:r>
              </a:p>
              <a:p>
                <a:pPr>
                  <a:buSzPct val="100000"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</a:rPr>
                  <a:t>Reusable data products, analytics, architecture, monetization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2F26F3B8-CA9A-3660-D416-56970DACBC05}"/>
                  </a:ext>
                </a:extLst>
              </p:cNvPr>
              <p:cNvSpPr txBox="1"/>
              <p:nvPr/>
            </p:nvSpPr>
            <p:spPr>
              <a:xfrm>
                <a:off x="4391989" y="2961596"/>
                <a:ext cx="187873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buSzPct val="100000"/>
                </a:pPr>
                <a:r>
                  <a:rPr lang="en-US" sz="1200" b="1" dirty="0">
                    <a:latin typeface="DM Sans" pitchFamily="2" charset="0"/>
                  </a:rPr>
                  <a:t>Technology</a:t>
                </a:r>
              </a:p>
              <a:p>
                <a:pPr>
                  <a:buSzPct val="100000"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</a:rPr>
                  <a:t>Target architecture, platforms &amp; solutions, integration </a:t>
                </a: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3AA9ACAD-2309-6695-05C5-A00E27FC3BF5}"/>
                  </a:ext>
                </a:extLst>
              </p:cNvPr>
              <p:cNvSpPr txBox="1"/>
              <p:nvPr/>
            </p:nvSpPr>
            <p:spPr>
              <a:xfrm>
                <a:off x="6763057" y="2961596"/>
                <a:ext cx="1884734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buSzPct val="100000"/>
                </a:pPr>
                <a:r>
                  <a:rPr lang="en-US" sz="1200" b="1" dirty="0">
                    <a:latin typeface="DM Sans" pitchFamily="2" charset="0"/>
                  </a:rPr>
                  <a:t>Enablement</a:t>
                </a:r>
              </a:p>
              <a:p>
                <a:pPr>
                  <a:buSzPct val="100000"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</a:rPr>
                  <a:t>Culture, AI &amp; engineering toolbox, automation, agents, skills</a:t>
                </a:r>
              </a:p>
            </p:txBody>
          </p:sp>
        </p:grpSp>
        <p:grpSp>
          <p:nvGrpSpPr>
            <p:cNvPr id="11" name="Groep 10">
              <a:extLst>
                <a:ext uri="{FF2B5EF4-FFF2-40B4-BE49-F238E27FC236}">
                  <a16:creationId xmlns:a16="http://schemas.microsoft.com/office/drawing/2014/main" id="{B7CF1138-4C4E-266E-D6C0-860E7EEBF20D}"/>
                </a:ext>
              </a:extLst>
            </p:cNvPr>
            <p:cNvGrpSpPr/>
            <p:nvPr/>
          </p:nvGrpSpPr>
          <p:grpSpPr>
            <a:xfrm>
              <a:off x="1875658" y="2896545"/>
              <a:ext cx="7031757" cy="908874"/>
              <a:chOff x="1875658" y="3934756"/>
              <a:chExt cx="7031757" cy="908874"/>
            </a:xfrm>
          </p:grpSpPr>
          <p:grpSp>
            <p:nvGrpSpPr>
              <p:cNvPr id="7" name="Groep 6">
                <a:extLst>
                  <a:ext uri="{FF2B5EF4-FFF2-40B4-BE49-F238E27FC236}">
                    <a16:creationId xmlns:a16="http://schemas.microsoft.com/office/drawing/2014/main" id="{FA87857C-EE64-83B6-1558-C834EDD82F05}"/>
                  </a:ext>
                </a:extLst>
              </p:cNvPr>
              <p:cNvGrpSpPr/>
              <p:nvPr/>
            </p:nvGrpSpPr>
            <p:grpSpPr>
              <a:xfrm>
                <a:off x="1875658" y="3934756"/>
                <a:ext cx="7031757" cy="908874"/>
                <a:chOff x="1875658" y="3934756"/>
                <a:chExt cx="7031757" cy="908874"/>
              </a:xfrm>
            </p:grpSpPr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72576AB9-B02D-3B55-BF90-C23F1A867704}"/>
                    </a:ext>
                  </a:extLst>
                </p:cNvPr>
                <p:cNvSpPr/>
                <p:nvPr/>
              </p:nvSpPr>
              <p:spPr>
                <a:xfrm>
                  <a:off x="1875658" y="3934756"/>
                  <a:ext cx="3466168" cy="90887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C8B0295D-55E0-BE71-18DC-D49D90CE7050}"/>
                    </a:ext>
                  </a:extLst>
                </p:cNvPr>
                <p:cNvSpPr/>
                <p:nvPr/>
              </p:nvSpPr>
              <p:spPr>
                <a:xfrm>
                  <a:off x="5441247" y="3934756"/>
                  <a:ext cx="3466168" cy="90887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</p:grp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5062C2DE-E635-12D3-2B1A-52C3839E99E0}"/>
                  </a:ext>
                </a:extLst>
              </p:cNvPr>
              <p:cNvSpPr txBox="1"/>
              <p:nvPr/>
            </p:nvSpPr>
            <p:spPr>
              <a:xfrm>
                <a:off x="2010739" y="4001262"/>
                <a:ext cx="282730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buSzPct val="100000"/>
                </a:pPr>
                <a:r>
                  <a:rPr lang="en-US" sz="1200" b="1" dirty="0">
                    <a:latin typeface="DM Sans" pitchFamily="2" charset="0"/>
                  </a:rPr>
                  <a:t>People</a:t>
                </a:r>
              </a:p>
              <a:p>
                <a:pPr>
                  <a:buSzPct val="100000"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</a:rPr>
                  <a:t>Roles, target skills &amp; gaps, org sizing, talent journey, training, team incentives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3C502B40-5DAD-8077-0D3C-B23D768C371B}"/>
                  </a:ext>
                </a:extLst>
              </p:cNvPr>
              <p:cNvSpPr txBox="1"/>
              <p:nvPr/>
            </p:nvSpPr>
            <p:spPr>
              <a:xfrm>
                <a:off x="5571088" y="4001262"/>
                <a:ext cx="234182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buSzPct val="100000"/>
                </a:pPr>
                <a:r>
                  <a:rPr lang="en-US" sz="1200" b="1" dirty="0">
                    <a:latin typeface="DM Sans" pitchFamily="2" charset="0"/>
                  </a:rPr>
                  <a:t>Process</a:t>
                </a:r>
              </a:p>
              <a:p>
                <a:pPr>
                  <a:buSzPct val="100000"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</a:rPr>
                  <a:t>Org. design, cross-functional teams, product way-of-working</a:t>
                </a:r>
              </a:p>
            </p:txBody>
          </p:sp>
        </p:grpSp>
        <p:grpSp>
          <p:nvGrpSpPr>
            <p:cNvPr id="5" name="Groep 4">
              <a:extLst>
                <a:ext uri="{FF2B5EF4-FFF2-40B4-BE49-F238E27FC236}">
                  <a16:creationId xmlns:a16="http://schemas.microsoft.com/office/drawing/2014/main" id="{494DD1AA-4D45-71F0-9314-8C1607F0A66C}"/>
                </a:ext>
              </a:extLst>
            </p:cNvPr>
            <p:cNvGrpSpPr/>
            <p:nvPr/>
          </p:nvGrpSpPr>
          <p:grpSpPr>
            <a:xfrm>
              <a:off x="1875657" y="1845667"/>
              <a:ext cx="7031758" cy="908874"/>
              <a:chOff x="1875657" y="1856048"/>
              <a:chExt cx="7031758" cy="908874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803139DD-F140-2E13-C535-DBA32BD2249E}"/>
                  </a:ext>
                </a:extLst>
              </p:cNvPr>
              <p:cNvSpPr/>
              <p:nvPr/>
            </p:nvSpPr>
            <p:spPr>
              <a:xfrm>
                <a:off x="1875657" y="1856048"/>
                <a:ext cx="7031758" cy="9088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AE8C815B-7E18-CE74-1D37-2454B20069A0}"/>
                  </a:ext>
                </a:extLst>
              </p:cNvPr>
              <p:cNvSpPr txBox="1"/>
              <p:nvPr/>
            </p:nvSpPr>
            <p:spPr>
              <a:xfrm>
                <a:off x="2010738" y="1922554"/>
                <a:ext cx="2959845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buSzPct val="100000"/>
                </a:pPr>
                <a:r>
                  <a:rPr lang="en-US" sz="1200" b="1" dirty="0">
                    <a:latin typeface="DM Sans" pitchFamily="2" charset="0"/>
                  </a:rPr>
                  <a:t>Products</a:t>
                </a:r>
                <a:r>
                  <a:rPr lang="en-US" sz="1200" dirty="0">
                    <a:latin typeface="DM Sans" pitchFamily="2" charset="0"/>
                  </a:rPr>
                  <a:t> -  by platform or business unit</a:t>
                </a:r>
              </a:p>
              <a:p>
                <a:pPr>
                  <a:buSzPct val="100000"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</a:rPr>
                  <a:t>Product vision &amp; objectives, products, persona’s, customer journeys, frictions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7F83771-69DC-DE58-F493-65CEDB545E5C}"/>
                  </a:ext>
                </a:extLst>
              </p:cNvPr>
              <p:cNvSpPr/>
              <p:nvPr/>
            </p:nvSpPr>
            <p:spPr>
              <a:xfrm>
                <a:off x="6089213" y="1959390"/>
                <a:ext cx="557171" cy="6977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100" dirty="0">
                    <a:solidFill>
                      <a:schemeClr val="tx1"/>
                    </a:solidFill>
                    <a:latin typeface="DM Sans" pitchFamily="2" charset="0"/>
                  </a:rPr>
                  <a:t>BU 1</a:t>
                </a:r>
                <a:endParaRPr lang="LID4096" sz="1100" dirty="0">
                  <a:solidFill>
                    <a:schemeClr val="tx1"/>
                  </a:solidFill>
                  <a:latin typeface="DM Sans" pitchFamily="2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95E7BBB-0795-3FA3-F052-AA3D1DD6498B}"/>
                  </a:ext>
                </a:extLst>
              </p:cNvPr>
              <p:cNvSpPr/>
              <p:nvPr/>
            </p:nvSpPr>
            <p:spPr>
              <a:xfrm>
                <a:off x="6720157" y="1959390"/>
                <a:ext cx="557171" cy="6977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100" dirty="0">
                    <a:solidFill>
                      <a:schemeClr val="tx1"/>
                    </a:solidFill>
                    <a:latin typeface="DM Sans" pitchFamily="2" charset="0"/>
                  </a:rPr>
                  <a:t>BU 2</a:t>
                </a:r>
                <a:endParaRPr lang="LID4096" sz="1100" dirty="0">
                  <a:solidFill>
                    <a:schemeClr val="tx1"/>
                  </a:solidFill>
                  <a:latin typeface="DM Sans" pitchFamily="2" charset="0"/>
                </a:endParaRPr>
              </a:p>
            </p:txBody>
          </p:sp>
          <p:sp>
            <p:nvSpPr>
              <p:cNvPr id="30" name="Rectangle 42">
                <a:extLst>
                  <a:ext uri="{FF2B5EF4-FFF2-40B4-BE49-F238E27FC236}">
                    <a16:creationId xmlns:a16="http://schemas.microsoft.com/office/drawing/2014/main" id="{66F9516B-8552-CDAF-75C4-8A281C36B6F8}"/>
                  </a:ext>
                </a:extLst>
              </p:cNvPr>
              <p:cNvSpPr/>
              <p:nvPr/>
            </p:nvSpPr>
            <p:spPr>
              <a:xfrm>
                <a:off x="7351101" y="1959390"/>
                <a:ext cx="557171" cy="6977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100" dirty="0">
                    <a:solidFill>
                      <a:schemeClr val="tx1"/>
                    </a:solidFill>
                    <a:latin typeface="DM Sans" pitchFamily="2" charset="0"/>
                  </a:rPr>
                  <a:t>BU 3</a:t>
                </a:r>
                <a:endParaRPr lang="LID4096" sz="1100" dirty="0">
                  <a:solidFill>
                    <a:schemeClr val="tx1"/>
                  </a:solidFill>
                  <a:latin typeface="DM Sans" pitchFamily="2" charset="0"/>
                </a:endParaRPr>
              </a:p>
            </p:txBody>
          </p:sp>
          <p:sp>
            <p:nvSpPr>
              <p:cNvPr id="32" name="Rectangle 43">
                <a:extLst>
                  <a:ext uri="{FF2B5EF4-FFF2-40B4-BE49-F238E27FC236}">
                    <a16:creationId xmlns:a16="http://schemas.microsoft.com/office/drawing/2014/main" id="{005EA54E-A05B-E9A5-FE26-09518F608969}"/>
                  </a:ext>
                </a:extLst>
              </p:cNvPr>
              <p:cNvSpPr/>
              <p:nvPr/>
            </p:nvSpPr>
            <p:spPr>
              <a:xfrm>
                <a:off x="7982046" y="1959390"/>
                <a:ext cx="557171" cy="6977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nl-NL" sz="1100" dirty="0">
                    <a:solidFill>
                      <a:schemeClr val="tx1"/>
                    </a:solidFill>
                    <a:latin typeface="DM Sans" pitchFamily="2" charset="0"/>
                  </a:rPr>
                  <a:t>BU 4</a:t>
                </a:r>
                <a:endParaRPr lang="LID4096" sz="1100" dirty="0">
                  <a:solidFill>
                    <a:schemeClr val="tx1"/>
                  </a:solidFill>
                  <a:latin typeface="DM Sans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55234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2BF3D-FE41-717C-33E1-78FB61410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C8DFE4-22E2-2B56-23FE-10A83A8E3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 Transformation framework for European CEO’s – not used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FD04A-9782-DFEE-47DD-6E1AAA12FC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Agentic </a:t>
            </a:r>
            <a:r>
              <a:rPr lang="en-US" dirty="0" err="1"/>
              <a:t>Organisation</a:t>
            </a:r>
            <a:endParaRPr lang="en-US" dirty="0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18FE31E-3067-2A09-331D-DF2B79E20CB4}"/>
              </a:ext>
            </a:extLst>
          </p:cNvPr>
          <p:cNvGrpSpPr/>
          <p:nvPr/>
        </p:nvGrpSpPr>
        <p:grpSpPr>
          <a:xfrm>
            <a:off x="1876234" y="4986628"/>
            <a:ext cx="7031181" cy="773785"/>
            <a:chOff x="1876234" y="4962564"/>
            <a:chExt cx="7031181" cy="77378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6B940B1-BB64-5315-41EF-90659B2E2413}"/>
                </a:ext>
              </a:extLst>
            </p:cNvPr>
            <p:cNvSpPr/>
            <p:nvPr/>
          </p:nvSpPr>
          <p:spPr>
            <a:xfrm>
              <a:off x="6631404" y="4962564"/>
              <a:ext cx="2276011" cy="77378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0F41343-C46A-FBF1-1A24-4EA457D0B60F}"/>
                </a:ext>
              </a:extLst>
            </p:cNvPr>
            <p:cNvSpPr/>
            <p:nvPr/>
          </p:nvSpPr>
          <p:spPr>
            <a:xfrm>
              <a:off x="4253819" y="4962564"/>
              <a:ext cx="2276011" cy="77378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50D853E-5801-BE9A-A9B3-935AF7BBEE63}"/>
                </a:ext>
              </a:extLst>
            </p:cNvPr>
            <p:cNvSpPr/>
            <p:nvPr/>
          </p:nvSpPr>
          <p:spPr>
            <a:xfrm>
              <a:off x="1876234" y="4962564"/>
              <a:ext cx="2276011" cy="77378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37" name="Groep 36">
              <a:extLst>
                <a:ext uri="{FF2B5EF4-FFF2-40B4-BE49-F238E27FC236}">
                  <a16:creationId xmlns:a16="http://schemas.microsoft.com/office/drawing/2014/main" id="{56269A69-5B02-D4EB-816D-DBD7047B2E28}"/>
                </a:ext>
              </a:extLst>
            </p:cNvPr>
            <p:cNvGrpSpPr/>
            <p:nvPr/>
          </p:nvGrpSpPr>
          <p:grpSpPr>
            <a:xfrm>
              <a:off x="2010738" y="5076990"/>
              <a:ext cx="6779081" cy="553998"/>
              <a:chOff x="2128334" y="5761585"/>
              <a:chExt cx="6779081" cy="553998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48AAE56-2291-A35C-FC29-51F1377E1343}"/>
                  </a:ext>
                </a:extLst>
              </p:cNvPr>
              <p:cNvSpPr txBox="1"/>
              <p:nvPr/>
            </p:nvSpPr>
            <p:spPr>
              <a:xfrm>
                <a:off x="6881479" y="5761585"/>
                <a:ext cx="202593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buSzPct val="100000"/>
                </a:pPr>
                <a:r>
                  <a:rPr lang="en-US" sz="1200" b="1" dirty="0">
                    <a:latin typeface="DM Sans" pitchFamily="2" charset="0"/>
                  </a:rPr>
                  <a:t>Implementation</a:t>
                </a:r>
              </a:p>
              <a:p>
                <a:pPr>
                  <a:buSzPct val="100000"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</a:rPr>
                  <a:t>Roadmap, big decisions, change management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89602CF-355A-6230-5643-419DBC291A2F}"/>
                  </a:ext>
                </a:extLst>
              </p:cNvPr>
              <p:cNvSpPr txBox="1"/>
              <p:nvPr/>
            </p:nvSpPr>
            <p:spPr>
              <a:xfrm>
                <a:off x="2128334" y="5761585"/>
                <a:ext cx="186354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buSzPct val="100000"/>
                </a:pPr>
                <a:r>
                  <a:rPr lang="en-US" sz="1200" b="1" dirty="0">
                    <a:latin typeface="DM Sans" pitchFamily="2" charset="0"/>
                  </a:rPr>
                  <a:t>Governance &amp; Metrics</a:t>
                </a:r>
              </a:p>
              <a:p>
                <a:pPr>
                  <a:buSzPct val="100000"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</a:rPr>
                  <a:t>Definitions, targets, monitoring, steering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FF8B29-C140-297A-7544-B05B466AF757}"/>
                  </a:ext>
                </a:extLst>
              </p:cNvPr>
              <p:cNvSpPr txBox="1"/>
              <p:nvPr/>
            </p:nvSpPr>
            <p:spPr>
              <a:xfrm>
                <a:off x="4503748" y="5761585"/>
                <a:ext cx="202608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buSzPct val="100000"/>
                </a:pPr>
                <a:r>
                  <a:rPr lang="en-US" sz="1200" b="1" dirty="0">
                    <a:latin typeface="DM Sans" pitchFamily="2" charset="0"/>
                  </a:rPr>
                  <a:t>Financials</a:t>
                </a:r>
              </a:p>
              <a:p>
                <a:pPr>
                  <a:buSzPct val="100000"/>
                </a:pPr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</a:rPr>
                  <a:t>ROI, cost analysis &amp; optimization, tracking</a:t>
                </a:r>
              </a:p>
            </p:txBody>
          </p:sp>
        </p:grpSp>
      </p:grpSp>
      <p:grpSp>
        <p:nvGrpSpPr>
          <p:cNvPr id="57" name="Groep 56">
            <a:extLst>
              <a:ext uri="{FF2B5EF4-FFF2-40B4-BE49-F238E27FC236}">
                <a16:creationId xmlns:a16="http://schemas.microsoft.com/office/drawing/2014/main" id="{5FAC7954-8774-CB5B-EEDE-A2D719145CF2}"/>
              </a:ext>
            </a:extLst>
          </p:cNvPr>
          <p:cNvGrpSpPr/>
          <p:nvPr/>
        </p:nvGrpSpPr>
        <p:grpSpPr>
          <a:xfrm>
            <a:off x="2174050" y="5898526"/>
            <a:ext cx="6429203" cy="780429"/>
            <a:chOff x="2216586" y="1752579"/>
            <a:chExt cx="6429203" cy="780429"/>
          </a:xfrm>
        </p:grpSpPr>
        <p:grpSp>
          <p:nvGrpSpPr>
            <p:cNvPr id="56" name="Groep 55">
              <a:extLst>
                <a:ext uri="{FF2B5EF4-FFF2-40B4-BE49-F238E27FC236}">
                  <a16:creationId xmlns:a16="http://schemas.microsoft.com/office/drawing/2014/main" id="{ED93F8E9-C9CA-F9CC-517E-FEFBE262BCBC}"/>
                </a:ext>
              </a:extLst>
            </p:cNvPr>
            <p:cNvGrpSpPr/>
            <p:nvPr/>
          </p:nvGrpSpPr>
          <p:grpSpPr>
            <a:xfrm>
              <a:off x="2216586" y="1752579"/>
              <a:ext cx="1882732" cy="780429"/>
              <a:chOff x="2010738" y="1760234"/>
              <a:chExt cx="1882732" cy="780429"/>
            </a:xfrm>
          </p:grpSpPr>
          <p:sp>
            <p:nvSpPr>
              <p:cNvPr id="40" name="Ovaal 39">
                <a:extLst>
                  <a:ext uri="{FF2B5EF4-FFF2-40B4-BE49-F238E27FC236}">
                    <a16:creationId xmlns:a16="http://schemas.microsoft.com/office/drawing/2014/main" id="{0C39892D-A604-84A4-92E9-08EB71B9CC0A}"/>
                  </a:ext>
                </a:extLst>
              </p:cNvPr>
              <p:cNvSpPr/>
              <p:nvPr/>
            </p:nvSpPr>
            <p:spPr>
              <a:xfrm>
                <a:off x="2010738" y="1760234"/>
                <a:ext cx="1882732" cy="780429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5" name="TextBox 19">
                <a:extLst>
                  <a:ext uri="{FF2B5EF4-FFF2-40B4-BE49-F238E27FC236}">
                    <a16:creationId xmlns:a16="http://schemas.microsoft.com/office/drawing/2014/main" id="{3AE75E65-59FF-CFE1-1F5C-B4AD52EEF56A}"/>
                  </a:ext>
                </a:extLst>
              </p:cNvPr>
              <p:cNvSpPr txBox="1"/>
              <p:nvPr/>
            </p:nvSpPr>
            <p:spPr>
              <a:xfrm>
                <a:off x="2629602" y="2058115"/>
                <a:ext cx="64500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buSzPct val="100000"/>
                </a:pPr>
                <a:r>
                  <a:rPr lang="en-US" sz="1200" b="1" dirty="0">
                    <a:latin typeface="DM Sans" pitchFamily="2" charset="0"/>
                  </a:rPr>
                  <a:t>Value</a:t>
                </a:r>
                <a:endParaRPr lang="en-US" sz="1200" dirty="0">
                  <a:latin typeface="DM Sans" pitchFamily="2" charset="0"/>
                </a:endParaRPr>
              </a:p>
            </p:txBody>
          </p:sp>
        </p:grpSp>
        <p:grpSp>
          <p:nvGrpSpPr>
            <p:cNvPr id="55" name="Groep 54">
              <a:extLst>
                <a:ext uri="{FF2B5EF4-FFF2-40B4-BE49-F238E27FC236}">
                  <a16:creationId xmlns:a16="http://schemas.microsoft.com/office/drawing/2014/main" id="{6CE53BE7-44F7-143C-B823-33BF0AEF725D}"/>
                </a:ext>
              </a:extLst>
            </p:cNvPr>
            <p:cNvGrpSpPr/>
            <p:nvPr/>
          </p:nvGrpSpPr>
          <p:grpSpPr>
            <a:xfrm>
              <a:off x="4489821" y="1752579"/>
              <a:ext cx="1882732" cy="780429"/>
              <a:chOff x="4152245" y="1760234"/>
              <a:chExt cx="1882732" cy="780429"/>
            </a:xfrm>
          </p:grpSpPr>
          <p:sp>
            <p:nvSpPr>
              <p:cNvPr id="46" name="Ovaal 45">
                <a:extLst>
                  <a:ext uri="{FF2B5EF4-FFF2-40B4-BE49-F238E27FC236}">
                    <a16:creationId xmlns:a16="http://schemas.microsoft.com/office/drawing/2014/main" id="{2CD23354-87F9-18DA-E35B-E7DB99920D26}"/>
                  </a:ext>
                </a:extLst>
              </p:cNvPr>
              <p:cNvSpPr/>
              <p:nvPr/>
            </p:nvSpPr>
            <p:spPr>
              <a:xfrm>
                <a:off x="4152245" y="1760234"/>
                <a:ext cx="1882732" cy="780429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9" name="TextBox 19">
                <a:extLst>
                  <a:ext uri="{FF2B5EF4-FFF2-40B4-BE49-F238E27FC236}">
                    <a16:creationId xmlns:a16="http://schemas.microsoft.com/office/drawing/2014/main" id="{9365DEC0-B866-63BB-7E1A-4524C1DAE39E}"/>
                  </a:ext>
                </a:extLst>
              </p:cNvPr>
              <p:cNvSpPr txBox="1"/>
              <p:nvPr/>
            </p:nvSpPr>
            <p:spPr>
              <a:xfrm>
                <a:off x="4616135" y="2058115"/>
                <a:ext cx="954954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buSzPct val="100000"/>
                </a:pPr>
                <a:r>
                  <a:rPr lang="en-US" sz="1200" b="1" dirty="0">
                    <a:latin typeface="DM Sans" pitchFamily="2" charset="0"/>
                  </a:rPr>
                  <a:t>Capabilities</a:t>
                </a:r>
                <a:endParaRPr lang="en-US" sz="1200" dirty="0">
                  <a:latin typeface="DM Sans" pitchFamily="2" charset="0"/>
                </a:endParaRPr>
              </a:p>
            </p:txBody>
          </p:sp>
        </p:grpSp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CECA09D3-9264-62F3-BAE6-1135511429AE}"/>
                </a:ext>
              </a:extLst>
            </p:cNvPr>
            <p:cNvGrpSpPr/>
            <p:nvPr/>
          </p:nvGrpSpPr>
          <p:grpSpPr>
            <a:xfrm>
              <a:off x="6763057" y="1752579"/>
              <a:ext cx="1882732" cy="780429"/>
              <a:chOff x="6166283" y="1760234"/>
              <a:chExt cx="1882732" cy="780429"/>
            </a:xfrm>
          </p:grpSpPr>
          <p:sp>
            <p:nvSpPr>
              <p:cNvPr id="50" name="Ovaal 49">
                <a:extLst>
                  <a:ext uri="{FF2B5EF4-FFF2-40B4-BE49-F238E27FC236}">
                    <a16:creationId xmlns:a16="http://schemas.microsoft.com/office/drawing/2014/main" id="{6FB73AF7-E513-6F37-FB56-392BD4CD957A}"/>
                  </a:ext>
                </a:extLst>
              </p:cNvPr>
              <p:cNvSpPr/>
              <p:nvPr/>
            </p:nvSpPr>
            <p:spPr>
              <a:xfrm>
                <a:off x="6166283" y="1760234"/>
                <a:ext cx="1882732" cy="780429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1" name="TextBox 19">
                <a:extLst>
                  <a:ext uri="{FF2B5EF4-FFF2-40B4-BE49-F238E27FC236}">
                    <a16:creationId xmlns:a16="http://schemas.microsoft.com/office/drawing/2014/main" id="{3753C1F5-D79F-FF2D-6911-798E4DEF1A18}"/>
                  </a:ext>
                </a:extLst>
              </p:cNvPr>
              <p:cNvSpPr txBox="1"/>
              <p:nvPr/>
            </p:nvSpPr>
            <p:spPr>
              <a:xfrm>
                <a:off x="6630173" y="2058115"/>
                <a:ext cx="954954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buSzPct val="100000"/>
                </a:pPr>
                <a:r>
                  <a:rPr lang="en-US" sz="1200" b="1" dirty="0">
                    <a:latin typeface="DM Sans" pitchFamily="2" charset="0"/>
                  </a:rPr>
                  <a:t>Trust</a:t>
                </a:r>
                <a:endParaRPr lang="en-US" sz="1200" dirty="0">
                  <a:latin typeface="DM Sans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18198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B92B7-EBBB-29B1-D2DF-A9F3C5FCA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35802E-CA5A-8ED3-1E31-A1B56D919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Book cover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7AA5F-D60F-AD07-0D15-90F766B21B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Agentic </a:t>
            </a:r>
            <a:r>
              <a:rPr lang="en-US" dirty="0" err="1"/>
              <a:t>Organisation</a:t>
            </a:r>
            <a:endParaRPr lang="en-US" dirty="0"/>
          </a:p>
        </p:txBody>
      </p:sp>
      <p:pic>
        <p:nvPicPr>
          <p:cNvPr id="20" name="Afbeelding 19" descr="Afbeelding met schoeisel, kleding, person, persoon&#10;&#10;Door AI gegenereerde inhoud is mogelijk onjuist.">
            <a:extLst>
              <a:ext uri="{FF2B5EF4-FFF2-40B4-BE49-F238E27FC236}">
                <a16:creationId xmlns:a16="http://schemas.microsoft.com/office/drawing/2014/main" id="{131CC11A-5448-A817-E1C6-68413F845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38" y="1363851"/>
            <a:ext cx="2903284" cy="4354926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011CADC5-0494-041A-23A1-8C77774988E9}"/>
              </a:ext>
            </a:extLst>
          </p:cNvPr>
          <p:cNvSpPr txBox="1"/>
          <p:nvPr/>
        </p:nvSpPr>
        <p:spPr>
          <a:xfrm>
            <a:off x="504690" y="1450211"/>
            <a:ext cx="2874980" cy="8191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GB" sz="2400" b="1" dirty="0">
                <a:solidFill>
                  <a:srgbClr val="4B5B6B"/>
                </a:solidFill>
                <a:latin typeface="Montserrat" pitchFamily="2" charset="0"/>
              </a:rPr>
              <a:t>THE AGENTIC ORGANISATION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2DE3A319-CEAC-921D-D6E0-4F2919039E15}"/>
              </a:ext>
            </a:extLst>
          </p:cNvPr>
          <p:cNvSpPr txBox="1"/>
          <p:nvPr/>
        </p:nvSpPr>
        <p:spPr>
          <a:xfrm>
            <a:off x="504690" y="2173458"/>
            <a:ext cx="2874980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4B5B6B"/>
                </a:solidFill>
                <a:latin typeface="Montserrat" pitchFamily="2" charset="0"/>
                <a:cs typeface="Segoe UI" panose="020B0502040204020203" pitchFamily="34" charset="0"/>
              </a:rPr>
              <a:t>A complete AI transformation </a:t>
            </a:r>
            <a:br>
              <a:rPr lang="en-GB" sz="800" dirty="0">
                <a:solidFill>
                  <a:srgbClr val="4B5B6B"/>
                </a:solidFill>
                <a:latin typeface="Montserrat" pitchFamily="2" charset="0"/>
                <a:cs typeface="Segoe UI" panose="020B0502040204020203" pitchFamily="34" charset="0"/>
              </a:rPr>
            </a:br>
            <a:r>
              <a:rPr lang="en-GB" sz="800" dirty="0">
                <a:solidFill>
                  <a:srgbClr val="4B5B6B"/>
                </a:solidFill>
                <a:latin typeface="Montserrat" pitchFamily="2" charset="0"/>
                <a:cs typeface="Segoe UI" panose="020B0502040204020203" pitchFamily="34" charset="0"/>
              </a:rPr>
              <a:t>framework for European CEO's</a:t>
            </a: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7A35202E-6D93-F357-54FA-5F2F03585E0B}"/>
              </a:ext>
            </a:extLst>
          </p:cNvPr>
          <p:cNvSpPr txBox="1"/>
          <p:nvPr/>
        </p:nvSpPr>
        <p:spPr>
          <a:xfrm>
            <a:off x="1303223" y="5301295"/>
            <a:ext cx="1277914" cy="246221"/>
          </a:xfrm>
          <a:prstGeom prst="rect">
            <a:avLst/>
          </a:prstGeom>
          <a:noFill/>
          <a:effectLst>
            <a:outerShdw blurRad="12700" dist="12700" dir="2700000" algn="tl" rotWithShape="0">
              <a:prstClr val="black">
                <a:alpha val="16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GB" sz="1000" dirty="0">
                <a:solidFill>
                  <a:schemeClr val="bg1"/>
                </a:solidFill>
                <a:latin typeface="Garamond" panose="02020404030301010803" pitchFamily="18" charset="0"/>
              </a:rPr>
              <a:t>Stephan Hartgers-Rus</a:t>
            </a:r>
          </a:p>
        </p:txBody>
      </p:sp>
    </p:spTree>
    <p:extLst>
      <p:ext uri="{BB962C8B-B14F-4D97-AF65-F5344CB8AC3E}">
        <p14:creationId xmlns:p14="http://schemas.microsoft.com/office/powerpoint/2010/main" val="287659357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169</Words>
  <Application>Microsoft Office PowerPoint</Application>
  <PresentationFormat>Breedbeeld</PresentationFormat>
  <Paragraphs>39</Paragraphs>
  <Slides>3</Slides>
  <Notes>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DM Sans</vt:lpstr>
      <vt:lpstr>DM Sans Medium</vt:lpstr>
      <vt:lpstr>Garamond</vt:lpstr>
      <vt:lpstr>Montserrat</vt:lpstr>
      <vt:lpstr>Kantoorthema</vt:lpstr>
      <vt:lpstr>AI Transformation framework for European CEO’s</vt:lpstr>
      <vt:lpstr>AI Transformation framework for European CEO’s – not used</vt:lpstr>
      <vt:lpstr>Book cover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 Hartgers</dc:creator>
  <cp:lastModifiedBy>Stephan Hartgers</cp:lastModifiedBy>
  <cp:revision>9</cp:revision>
  <dcterms:created xsi:type="dcterms:W3CDTF">2026-03-01T16:43:58Z</dcterms:created>
  <dcterms:modified xsi:type="dcterms:W3CDTF">2026-03-01T22:52:36Z</dcterms:modified>
</cp:coreProperties>
</file>