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147480368" r:id="rId2"/>
    <p:sldId id="2147480366" r:id="rId3"/>
    <p:sldId id="2147480372" r:id="rId4"/>
    <p:sldId id="2147480380" r:id="rId5"/>
    <p:sldId id="2147480367"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9" d="100"/>
          <a:sy n="99" d="100"/>
        </p:scale>
        <p:origin x="672"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03/03/2026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03/03/2026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03/03/2026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4DC9BA65-02F5-9778-D996-0E43F5050B58}"/>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1C285D34-3103-3FC5-CA90-096D3DDE0E6B}"/>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DA84A920-84E4-D38E-DFB7-5C496D13FC0A}"/>
              </a:ext>
            </a:extLst>
          </p:cNvPr>
          <p:cNvSpPr/>
          <p:nvPr/>
        </p:nvSpPr>
        <p:spPr>
          <a:xfrm>
            <a:off x="2271959"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55D2C2E2-60C1-A4D8-155A-29C4AE9102DC}"/>
              </a:ext>
            </a:extLst>
          </p:cNvPr>
          <p:cNvSpPr/>
          <p:nvPr/>
        </p:nvSpPr>
        <p:spPr>
          <a:xfrm>
            <a:off x="485884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DD197C6D-A1CA-B22B-ECAC-F110C43F9350}"/>
              </a:ext>
            </a:extLst>
          </p:cNvPr>
          <p:cNvSpPr/>
          <p:nvPr/>
        </p:nvSpPr>
        <p:spPr>
          <a:xfrm>
            <a:off x="744573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30FBF885-B703-4E76-E0CE-D11230D74F72}"/>
              </a:ext>
            </a:extLst>
          </p:cNvPr>
          <p:cNvSpPr txBox="1"/>
          <p:nvPr/>
        </p:nvSpPr>
        <p:spPr>
          <a:xfrm>
            <a:off x="2418949" y="4089627"/>
            <a:ext cx="2436657"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DATA</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Reusable data products, analytics, architecture, monetization</a:t>
            </a:r>
          </a:p>
        </p:txBody>
      </p:sp>
      <p:sp>
        <p:nvSpPr>
          <p:cNvPr id="155" name="TextBox 154">
            <a:extLst>
              <a:ext uri="{FF2B5EF4-FFF2-40B4-BE49-F238E27FC236}">
                <a16:creationId xmlns:a16="http://schemas.microsoft.com/office/drawing/2014/main" id="{2F26F3B8-CA9A-3660-D416-56970DACBC05}"/>
              </a:ext>
            </a:extLst>
          </p:cNvPr>
          <p:cNvSpPr txBox="1"/>
          <p:nvPr/>
        </p:nvSpPr>
        <p:spPr>
          <a:xfrm>
            <a:off x="5010186" y="4089627"/>
            <a:ext cx="20444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TECHNOLOGY</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Target architecture, platforms &amp; solutions, integration </a:t>
            </a:r>
          </a:p>
        </p:txBody>
      </p:sp>
      <p:sp>
        <p:nvSpPr>
          <p:cNvPr id="157" name="TextBox 156">
            <a:extLst>
              <a:ext uri="{FF2B5EF4-FFF2-40B4-BE49-F238E27FC236}">
                <a16:creationId xmlns:a16="http://schemas.microsoft.com/office/drawing/2014/main" id="{3AA9ACAD-2309-6695-05C5-A00E27FC3BF5}"/>
              </a:ext>
            </a:extLst>
          </p:cNvPr>
          <p:cNvSpPr txBox="1"/>
          <p:nvPr/>
        </p:nvSpPr>
        <p:spPr>
          <a:xfrm>
            <a:off x="7590340" y="4089627"/>
            <a:ext cx="2050934"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ENABLEMENT</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72576AB9-B02D-3B55-BF90-C23F1A867704}"/>
              </a:ext>
            </a:extLst>
          </p:cNvPr>
          <p:cNvSpPr/>
          <p:nvPr/>
        </p:nvSpPr>
        <p:spPr>
          <a:xfrm>
            <a:off x="2271959"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C8B0295D-55E0-BE71-18DC-D49D90CE7050}"/>
              </a:ext>
            </a:extLst>
          </p:cNvPr>
          <p:cNvSpPr/>
          <p:nvPr/>
        </p:nvSpPr>
        <p:spPr>
          <a:xfrm>
            <a:off x="6151970"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5062C2DE-E635-12D3-2B1A-52C3839E99E0}"/>
              </a:ext>
            </a:extLst>
          </p:cNvPr>
          <p:cNvSpPr txBox="1"/>
          <p:nvPr/>
        </p:nvSpPr>
        <p:spPr>
          <a:xfrm>
            <a:off x="2418952" y="3098490"/>
            <a:ext cx="3076622"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66" name="TextBox 165">
            <a:extLst>
              <a:ext uri="{FF2B5EF4-FFF2-40B4-BE49-F238E27FC236}">
                <a16:creationId xmlns:a16="http://schemas.microsoft.com/office/drawing/2014/main" id="{3C502B40-5DAD-8077-0D3C-B23D768C371B}"/>
              </a:ext>
            </a:extLst>
          </p:cNvPr>
          <p:cNvSpPr txBox="1"/>
          <p:nvPr/>
        </p:nvSpPr>
        <p:spPr>
          <a:xfrm>
            <a:off x="6293260" y="3098490"/>
            <a:ext cx="2548336"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PROCESS</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Org. design, cross-functional teams, product way-of-working</a:t>
            </a:r>
          </a:p>
        </p:txBody>
      </p:sp>
      <p:sp>
        <p:nvSpPr>
          <p:cNvPr id="140" name="Rectangle 139">
            <a:extLst>
              <a:ext uri="{FF2B5EF4-FFF2-40B4-BE49-F238E27FC236}">
                <a16:creationId xmlns:a16="http://schemas.microsoft.com/office/drawing/2014/main" id="{803139DD-F140-2E13-C535-DBA32BD2249E}"/>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AE8C815B-7E18-CE74-1D37-2454B20069A0}"/>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platform or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77F83771-69DC-DE58-F493-65CEDB545E5C}"/>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E95E7BBB-0795-3FA3-F052-AA3D1DD6498B}"/>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66F9516B-8552-CDAF-75C4-8A281C36B6F8}"/>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005EA54E-A05B-E9A5-FE26-09518F608969}"/>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B7DA85B3-5265-8774-DDA8-A18DF6EB8E85}"/>
              </a:ext>
            </a:extLst>
          </p:cNvPr>
          <p:cNvPicPr>
            <a:picLocks noChangeAspect="1"/>
          </p:cNvPicPr>
          <p:nvPr/>
        </p:nvPicPr>
        <p:blipFill>
          <a:blip r:embed="rId3"/>
          <a:stretch>
            <a:fillRect/>
          </a:stretch>
        </p:blipFill>
        <p:spPr>
          <a:xfrm>
            <a:off x="12192000" y="551145"/>
            <a:ext cx="8051107" cy="4602677"/>
          </a:xfrm>
          <a:prstGeom prst="rect">
            <a:avLst/>
          </a:prstGeom>
        </p:spPr>
      </p:pic>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23AC4A82-0A20-9F5E-64D7-347D2ECEB82B}"/>
              </a:ext>
            </a:extLst>
          </p:cNvPr>
          <p:cNvSpPr/>
          <p:nvPr/>
        </p:nvSpPr>
        <p:spPr>
          <a:xfrm>
            <a:off x="1874783" y="409251"/>
            <a:ext cx="8442435" cy="31695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Where does this initiative create measurable business value? </a:t>
            </a:r>
            <a:r>
              <a:rPr lang="en-GB" sz="1200" i="1" noProof="0" dirty="0">
                <a:solidFill>
                  <a:schemeClr val="tx1">
                    <a:lumMod val="85000"/>
                    <a:lumOff val="15000"/>
                  </a:schemeClr>
                </a:solidFill>
                <a:latin typeface="+mj-lt"/>
              </a:rPr>
              <a:t>(Efficiency, revenue,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4666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VALUE</a:t>
            </a:r>
          </a:p>
        </p:txBody>
      </p:sp>
      <p:sp>
        <p:nvSpPr>
          <p:cNvPr id="14" name="Rechthoek: afgeronde hoeken 13">
            <a:extLst>
              <a:ext uri="{FF2B5EF4-FFF2-40B4-BE49-F238E27FC236}">
                <a16:creationId xmlns:a16="http://schemas.microsoft.com/office/drawing/2014/main" id="{A1A90501-E13B-0DB0-9669-99A86F87A9DE}"/>
              </a:ext>
            </a:extLst>
          </p:cNvPr>
          <p:cNvSpPr/>
          <p:nvPr/>
        </p:nvSpPr>
        <p:spPr>
          <a:xfrm>
            <a:off x="782388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How can the organisation govern it responsibly? </a:t>
            </a:r>
            <a:r>
              <a:rPr lang="en-GB" sz="12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805480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18" name="Rechthoek: afgeronde hoeken 17">
            <a:extLst>
              <a:ext uri="{FF2B5EF4-FFF2-40B4-BE49-F238E27FC236}">
                <a16:creationId xmlns:a16="http://schemas.microsoft.com/office/drawing/2014/main" id="{EB153662-B3A8-884C-9C7A-69E6E91AEA4C}"/>
              </a:ext>
            </a:extLst>
          </p:cNvPr>
          <p:cNvSpPr/>
          <p:nvPr/>
        </p:nvSpPr>
        <p:spPr>
          <a:xfrm>
            <a:off x="496981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What is required in the organisation to deliver this? </a:t>
            </a:r>
            <a:r>
              <a:rPr lang="en-GB" sz="1200" i="1" noProof="0" dirty="0">
                <a:solidFill>
                  <a:schemeClr val="tx1">
                    <a:lumMod val="85000"/>
                    <a:lumOff val="15000"/>
                  </a:schemeClr>
                </a:solidFill>
                <a:latin typeface="+mj-lt"/>
              </a:rPr>
              <a:t>(People, process, data, enablement)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200736"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CAPABILITIES</a:t>
            </a:r>
          </a:p>
        </p:txBody>
      </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9AD835D3-F13B-6DA4-DB6D-F3E451993735}"/>
              </a:ext>
            </a:extLst>
          </p:cNvPr>
          <p:cNvSpPr/>
          <p:nvPr/>
        </p:nvSpPr>
        <p:spPr>
          <a:xfrm>
            <a:off x="1874783" y="409252"/>
            <a:ext cx="8442435" cy="45095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062489" y="1678877"/>
            <a:ext cx="653716"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4479442" y="1678877"/>
            <a:ext cx="650069"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445931" y="3535091"/>
            <a:ext cx="1303785"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211479" y="1961959"/>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129511" y="1365669"/>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CLARITY</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6831684"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6749716"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CAPABILITY</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594921"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3512953"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3161948" y="2326714"/>
            <a:ext cx="1616557" cy="259943"/>
          </a:xfrm>
          <a:prstGeom prst="rect">
            <a:avLst/>
          </a:prstGeom>
          <a:noFill/>
        </p:spPr>
        <p:txBody>
          <a:bodyPr wrap="square" rtlCol="0">
            <a:spAutoFit/>
          </a:bodyPr>
          <a:lstStyle/>
          <a:p>
            <a:pPr algn="r">
              <a:lnSpc>
                <a:spcPts val="1300"/>
              </a:lnSpc>
              <a:buNone/>
            </a:pPr>
            <a:r>
              <a:rPr lang="en-GB" sz="12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476437" y="2253258"/>
            <a:ext cx="1446025" cy="426655"/>
          </a:xfrm>
          <a:prstGeom prst="rect">
            <a:avLst/>
          </a:prstGeom>
          <a:noFill/>
        </p:spPr>
        <p:txBody>
          <a:bodyPr wrap="square" rtlCol="0">
            <a:spAutoFit/>
          </a:bodyPr>
          <a:lstStyle/>
          <a:p>
            <a:pPr>
              <a:lnSpc>
                <a:spcPts val="1300"/>
              </a:lnSpc>
              <a:buNone/>
            </a:pPr>
            <a:r>
              <a:rPr lang="en-GB" sz="12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5931" y="3634534"/>
            <a:ext cx="1303785" cy="426655"/>
          </a:xfrm>
          <a:prstGeom prst="rect">
            <a:avLst/>
          </a:prstGeom>
          <a:noFill/>
        </p:spPr>
        <p:txBody>
          <a:bodyPr wrap="square" rtlCol="0">
            <a:spAutoFit/>
          </a:bodyPr>
          <a:lstStyle/>
          <a:p>
            <a:pPr algn="ctr">
              <a:lnSpc>
                <a:spcPts val="1300"/>
              </a:lnSpc>
              <a:buNone/>
            </a:pPr>
            <a:r>
              <a:rPr lang="en-GB" sz="12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194</TotalTime>
  <Words>405</Words>
  <Application>Microsoft Office PowerPoint</Application>
  <PresentationFormat>Breedbeeld</PresentationFormat>
  <Paragraphs>61</Paragraphs>
  <Slides>5</Slides>
  <Notes>5</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5</vt:i4>
      </vt:variant>
    </vt:vector>
  </HeadingPairs>
  <TitlesOfParts>
    <vt:vector size="14" baseType="lpstr">
      <vt:lpstr>Aptos</vt:lpstr>
      <vt:lpstr>Aptos Display</vt:lpstr>
      <vt:lpstr>Arial</vt:lpstr>
      <vt:lpstr>DM Sans</vt:lpstr>
      <vt:lpstr>DM Sans Medium</vt:lpstr>
      <vt:lpstr>Garamond</vt:lpstr>
      <vt:lpstr>Montserrat</vt:lpstr>
      <vt:lpstr>Sans Serif Collection</vt:lpstr>
      <vt:lpstr>Kantoorthema</vt:lpstr>
      <vt:lpstr>Book cover</vt:lpstr>
      <vt:lpstr>AI Transformation Framework</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17</cp:revision>
  <dcterms:created xsi:type="dcterms:W3CDTF">2026-03-01T16:43:58Z</dcterms:created>
  <dcterms:modified xsi:type="dcterms:W3CDTF">2026-03-02T23:27:25Z</dcterms:modified>
</cp:coreProperties>
</file>